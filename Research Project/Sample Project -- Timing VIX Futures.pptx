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2" r:id="rId16"/>
    <p:sldId id="273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54" d="100"/>
          <a:sy n="54" d="100"/>
        </p:scale>
        <p:origin x="72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pherd, Shane" userId="0343f2f3-fe6e-42a1-9dc1-15639eb0ef31" providerId="ADAL" clId="{0C1FE639-AEC6-4904-A680-A535A3B41BC1}"/>
    <pc:docChg chg="custSel addSld modSld">
      <pc:chgData name="Shepherd, Shane" userId="0343f2f3-fe6e-42a1-9dc1-15639eb0ef31" providerId="ADAL" clId="{0C1FE639-AEC6-4904-A680-A535A3B41BC1}" dt="2024-11-06T01:36:13.375" v="392" actId="20577"/>
      <pc:docMkLst>
        <pc:docMk/>
      </pc:docMkLst>
      <pc:sldChg chg="modSp mod">
        <pc:chgData name="Shepherd, Shane" userId="0343f2f3-fe6e-42a1-9dc1-15639eb0ef31" providerId="ADAL" clId="{0C1FE639-AEC6-4904-A680-A535A3B41BC1}" dt="2024-11-06T01:36:13.375" v="392" actId="20577"/>
        <pc:sldMkLst>
          <pc:docMk/>
          <pc:sldMk cId="2730192074" sldId="271"/>
        </pc:sldMkLst>
        <pc:spChg chg="mod">
          <ac:chgData name="Shepherd, Shane" userId="0343f2f3-fe6e-42a1-9dc1-15639eb0ef31" providerId="ADAL" clId="{0C1FE639-AEC6-4904-A680-A535A3B41BC1}" dt="2024-11-06T01:36:13.375" v="392" actId="20577"/>
          <ac:spMkLst>
            <pc:docMk/>
            <pc:sldMk cId="2730192074" sldId="271"/>
            <ac:spMk id="2" creationId="{C8236389-5EC3-8347-8B28-FF2A36FC9AC2}"/>
          </ac:spMkLst>
        </pc:spChg>
      </pc:sldChg>
      <pc:sldChg chg="addSp modSp new mod">
        <pc:chgData name="Shepherd, Shane" userId="0343f2f3-fe6e-42a1-9dc1-15639eb0ef31" providerId="ADAL" clId="{0C1FE639-AEC6-4904-A680-A535A3B41BC1}" dt="2024-11-06T01:34:21.472" v="178" actId="1076"/>
        <pc:sldMkLst>
          <pc:docMk/>
          <pc:sldMk cId="2121443570" sldId="272"/>
        </pc:sldMkLst>
        <pc:spChg chg="mod">
          <ac:chgData name="Shepherd, Shane" userId="0343f2f3-fe6e-42a1-9dc1-15639eb0ef31" providerId="ADAL" clId="{0C1FE639-AEC6-4904-A680-A535A3B41BC1}" dt="2024-11-06T01:33:07.407" v="49" actId="20577"/>
          <ac:spMkLst>
            <pc:docMk/>
            <pc:sldMk cId="2121443570" sldId="272"/>
            <ac:spMk id="2" creationId="{39CAE6FE-F09B-E3C3-A30B-878139D2E50B}"/>
          </ac:spMkLst>
        </pc:spChg>
        <pc:spChg chg="mod">
          <ac:chgData name="Shepherd, Shane" userId="0343f2f3-fe6e-42a1-9dc1-15639eb0ef31" providerId="ADAL" clId="{0C1FE639-AEC6-4904-A680-A535A3B41BC1}" dt="2024-11-06T01:33:52.491" v="175" actId="20577"/>
          <ac:spMkLst>
            <pc:docMk/>
            <pc:sldMk cId="2121443570" sldId="272"/>
            <ac:spMk id="3" creationId="{07AAE3DC-9E3D-9228-EBAC-642CA228C291}"/>
          </ac:spMkLst>
        </pc:spChg>
        <pc:picChg chg="add mod">
          <ac:chgData name="Shepherd, Shane" userId="0343f2f3-fe6e-42a1-9dc1-15639eb0ef31" providerId="ADAL" clId="{0C1FE639-AEC6-4904-A680-A535A3B41BC1}" dt="2024-11-06T01:34:21.472" v="178" actId="1076"/>
          <ac:picMkLst>
            <pc:docMk/>
            <pc:sldMk cId="2121443570" sldId="272"/>
            <ac:picMk id="5" creationId="{D4909795-B681-8929-9E96-31A36A71175C}"/>
          </ac:picMkLst>
        </pc:picChg>
      </pc:sldChg>
      <pc:sldChg chg="addSp modSp new mod">
        <pc:chgData name="Shepherd, Shane" userId="0343f2f3-fe6e-42a1-9dc1-15639eb0ef31" providerId="ADAL" clId="{0C1FE639-AEC6-4904-A680-A535A3B41BC1}" dt="2024-11-06T01:35:40.894" v="359" actId="20577"/>
        <pc:sldMkLst>
          <pc:docMk/>
          <pc:sldMk cId="333136229" sldId="273"/>
        </pc:sldMkLst>
        <pc:spChg chg="mod">
          <ac:chgData name="Shepherd, Shane" userId="0343f2f3-fe6e-42a1-9dc1-15639eb0ef31" providerId="ADAL" clId="{0C1FE639-AEC6-4904-A680-A535A3B41BC1}" dt="2024-11-06T01:34:33.420" v="180"/>
          <ac:spMkLst>
            <pc:docMk/>
            <pc:sldMk cId="333136229" sldId="273"/>
            <ac:spMk id="2" creationId="{9F292B90-0502-2FB5-9DE9-389CC706E0A6}"/>
          </ac:spMkLst>
        </pc:spChg>
        <pc:spChg chg="mod">
          <ac:chgData name="Shepherd, Shane" userId="0343f2f3-fe6e-42a1-9dc1-15639eb0ef31" providerId="ADAL" clId="{0C1FE639-AEC6-4904-A680-A535A3B41BC1}" dt="2024-11-06T01:35:40.894" v="359" actId="20577"/>
          <ac:spMkLst>
            <pc:docMk/>
            <pc:sldMk cId="333136229" sldId="273"/>
            <ac:spMk id="3" creationId="{47F99E8A-4E54-ACDC-5D1B-6AD9D714E300}"/>
          </ac:spMkLst>
        </pc:spChg>
        <pc:picChg chg="add mod">
          <ac:chgData name="Shepherd, Shane" userId="0343f2f3-fe6e-42a1-9dc1-15639eb0ef31" providerId="ADAL" clId="{0C1FE639-AEC6-4904-A680-A535A3B41BC1}" dt="2024-11-06T01:35:04.144" v="183" actId="1076"/>
          <ac:picMkLst>
            <pc:docMk/>
            <pc:sldMk cId="333136229" sldId="273"/>
            <ac:picMk id="5" creationId="{0E2D166B-0F78-B3ED-6D6A-48DFEB051B8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11.4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1,'1905'0,"-1883"0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15.8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2,'125'-1,"278"9,390 64,-231-44,-515-26,50 8,-51-5,24 5,-28-4,45 1,21 2,-14 0,426-6,-287-4,288 1,-511-1,0 1,-1 1,1 0,0 0,-1 1,0 1,1-1,-1 1,0 1,0 0,-1 0,1 0,14 11,-10-4,2-1,14 8,-22-14,1 0,-1-1,1-1,0 1,0-1,12 2,36-1,-33-3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23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22,'20'-4,"1"1,39-1,-36 3,835-9,-544 12,-19-2,-273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25.5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1,'600'24,"-4"39,23-22,1299-45,-1316 4,-576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31.1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2,'35'0,"254"9,193 39,-194-17,-70-8,508 37,-465-62,7 1,-202 7,-1 2,102 29,39 33,-86-26,-100-37,0-2,0-1,39 4,61-8,-81 0,60 9,-7-1,-4 3,1-1,259-8,-177-4,-168 2,1 0,0 0,0 0,-1-1,1 0,0 0,-1 0,1 0,-1 0,1-1,-1 1,4-3,-5 2,0 0,0 0,0 0,0 0,0 0,0 0,-1 0,1-1,-1 1,0-1,0 1,1-1,-2 1,1-1,0 0,0 0,0-3,-1 0,0 0,0 1,0-1,-1 1,0-1,0 0,0 1,-1-1,0 1,0 0,0 0,-1 0,1 0,-1 0,0 0,-1 1,1-1,-1 1,0 0,-5-4,-5-4,0 0,-1 1,0 1,-34-16,36 20,-1 1,-1 0,1 0,-1 2,0 0,-21-2,-92 4,90 2,0-1,-39-5,-18-7,-41-6,-113-10,98 13,-543-31,403 48,270-2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34.8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0,'381'32,"-40"-1,124-31,-206-2,295 2,-535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39.1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0,'141'37,"-81"-23,509 106,-387-91,215 6,-289-36,111-15,-110 6,-26 2,39-3,94-16,-77 7,140 3,0 17,-127 1,-9 10,-2 0,796-12,-914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0:42.3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66,'109'-36,"-84"28,1 2,0 0,0 2,33-1,108 4,-101 3,975 0,-554-3,-464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1:28.30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1,'25'11,"0"0,1-2,0-1,52 9,897 114,-436-107,4-25,370-1,-497 3,-264-12,-3 1,149 11,-274-1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1:30.12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2,'1140'0,"-766"11,-62 0,465-24,-19 3,-505 11,480-1,-711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1:32.48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0,'62'14,"-1"-3,85 3,126-8,-198-6,220-2,170 3,-272 9,46 0,533-11,-748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1:34.30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1,'5'0,"-1"1,1-1,-1 1,0 1,0-1,1 1,3 1,17 6,123 26,171 18,25-32,0-23,-100 0,-188 2,21 1,122-14,-138 6,19-3,-16-3,0 3,0 3,70 2,53 6,-164-1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2:07.64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0,'294'12,"5"-1,2173-11,-2421 2,88 16,-86-9,77 3,250-13,-368 3,0-1,1 1,-1 1,0 0,0 1,0 0,19 11,-24-12,16 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2:10.578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1,'12'11,"0"0,1 0,0-2,1 0,15 8,76 31,-60-31,1-3,1-1,0-2,0-3,1-1,93 0,361-25,-330 9,37-3,133 4,-297 8,-13-1,44-8,23-2,330 11,-206 1,-203-1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2:12.69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0,'4'0,"0"1,-1-1,1 0,0 1,-1 0,1 0,0 0,3 1,18 6,293 53,12-33,-165-25,58 4,363 5,-394-13,292 1,-446-2,40-6,18-2,268 8,-188 3,-39-1,-111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2:15.47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72,'354'40,"-108"-8,420 2,-628-34,25-1,-1-2,67-12,-53 3,98-3,-40 7,119-4,-192 11,-1-1,90-17,-118 13,59-22,-72 22,0 0,1 1,38-3,61 4,-95 4,43-8,2 0,74 6,6 1,-123-2,-3-1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2:17.497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0,'221'16,"-93"-3,299 2,2-16,-129-1,-285 2,0 1,-1 1,1 0,-1 0,20 7,85 21,-100-25,11 0,1 0,40 0,64-6,-54-1,749 2,-807 1,-1 2,33 7,-27-5,111 25,-97-21,-2 0,1-2,48 3,-50-11,-26 1,-1-1,1 2,20 2,-31-2,0-1,1 1,-1 0,0 0,0 0,0 0,2 2,11 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0T05:42:20.252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1 424,'29'0,"472"-9,-422 6,267-23,11-2,-319 27,0-2,-1-1,1-2,45-14,222-90,-15 6,8 20,-266 76,57-7,-74 13,-1 2,1 0,0 0,-1 2,1 0,17 4,24 7,0-3,108 7,120-17,-129-2,-139 3,0 0,0 1,0 1,0 0,-1 1,0 1,18 8,98 55,-68-32,-33-21,53 19,-73-31,0 1,0 1,-1-1,0 2,0-1,0 1,0 1,-1 0,0 0,-1 0,1 1,-1 0,8 14,-10-15,1-1,-1 0,1 0,9 7,-9-8,0 0,-1 0,0 0,0 1,7 10,-11-15,0 0,-1 1,1-1,-1 0,1 1,-1-1,1 0,-1 1,0-1,1 1,-1-1,0 1,0-1,0 0,-1 1,1-1,0 1,0-1,-1 0,0 3,0-1,-1-1,1 0,-1 1,0-1,1 0,-1 0,0 0,0-1,0 1,-4 2,-4 2,0-1,0 0,0-1,-16 5,-23 6,-127 35,150-44,-2-2,1 0,0-2,-45-2,13-7,-105-26,78 13,-270-41,252 50,-156 5,31-3,172 5,23 2,0-2,-56-12,59 8,0 2,-62-4,-62 8,127 3,9-1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5998-505F-48E9-AC0A-C21348857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E7F0D-15AD-9052-E23E-5A800FEB2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82052-5294-8219-F691-8EA725A4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5461-25B9-BC01-507D-0C396A99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9A962-2059-37FF-5994-5D5808D1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4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A1BE-28A2-F7B0-5792-55177E1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B278-EAC4-C920-FB34-2A1640AD5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344A3-5425-9B1E-19BC-45FD8E89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C6BC7-3A31-F176-F583-B0BAE0FE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2CB0B-1DE1-EB92-4623-D52E4594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51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C992B-F559-F60F-5869-6339D895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70E14-E70F-7638-D056-7C94ABD1E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CA84D-A2D9-80A1-A408-31614C6B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6ABAE-A4D0-2EF0-9556-14B5432C7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22E7-80D5-3A49-7907-BAEA9742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1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E73E-1B12-A3F0-40DA-12E9752C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0452C-C3BB-5A6E-B46B-911273B4F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A525C-3254-1DFE-7A1A-A510A684F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37E3D-B094-2451-543D-5E7D9AF1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11079-BB9B-04D4-DEB6-6AFBAE57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50F67-7028-D5F2-5CBA-BB342074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8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FD56-AF23-9632-2D6A-9CFAAFAD3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E3EDD-5146-1D4F-694E-955554E24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4888B-0AC3-2D94-4B0D-7758C51C7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2377B-A906-62BE-B3F6-FBE4D3FB7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BEB25-9322-BB96-C948-155FA1BFF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D2AF1-91F1-4E3C-C84B-3951F9FC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AAB0A-90A9-B289-7B1C-F6D8BDC3E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E71A8-8310-4062-2958-70D80427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89906-083F-F81A-768A-507882ED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8E078B-B363-1DB6-ED75-6174E9D0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428D2-738F-5D65-72AD-E78AADE9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5BCB9-F1D6-83C8-4B62-11150EE3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6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E5BBE-4BEE-FEA2-F6BC-B4B39CDF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0DA60-FCCB-9734-28E3-4D55277A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22A3-CA6B-9E71-A8AA-1D7722AA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6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5E50-8711-913E-3CFE-946FE629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6E09-D820-5C81-9FD8-B2D6961D6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9AAD0-F3B1-7C60-87BC-1813E2317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972A2-515D-387A-4C8A-5EAB9D48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634DB-66C8-BE56-F3D5-7931BCF7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965C1-E71C-5919-7454-D46C5D82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5B42-C8D3-AC12-DE68-1DBEEC8A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FBCC3-3E45-798B-8A6C-0F8C271C3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D9BE6-F332-7246-5E97-37877C34F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65278-5D86-8344-FEBF-3F3EFACA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CE940-8B4F-817C-7FB1-CF4D6EE7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EF5FB-9288-F408-29F1-6654E594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1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7ABA-8576-ABDF-1226-640D5922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8890E-DC56-A99A-9F06-800FC9D44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86D5A-AF36-4A8E-E981-236B45DB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01214-064A-60E2-D3D8-7A8FB4D5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6E197-EB65-7241-BB83-7AD5F899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3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93C80F-152B-BFC7-1D4E-1E6F6214C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4A643-3665-B847-6A08-2ADDD549B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BD93D-7152-BB8F-219D-D41F9D45D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95F65-AA88-1531-AA23-64052E84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8488D-128C-F304-9769-8DF024A1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9F852-9E85-B53D-88FC-F8DBC856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E5BFF-520B-D2A7-D4CA-C0F23624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C08E9-B1D0-D110-71E6-6AD157D22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03DB0-95E4-4D2D-84DF-6030DFBAD2BD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2FD3B-ADF1-7FFD-1A65-335016015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4B95-88B4-EF16-B24F-36A8219BA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C4D32-252B-41BE-96FD-BA42CE4B9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4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3.png"/><Relationship Id="rId21" Type="http://schemas.openxmlformats.org/officeDocument/2006/relationships/image" Target="../media/image14.png"/><Relationship Id="rId34" Type="http://schemas.openxmlformats.org/officeDocument/2006/relationships/customXml" Target="../ink/ink16.xml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8.xml"/><Relationship Id="rId2" Type="http://schemas.openxmlformats.org/officeDocument/2006/relationships/image" Target="../media/image4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7.png"/><Relationship Id="rId30" Type="http://schemas.openxmlformats.org/officeDocument/2006/relationships/customXml" Target="../ink/ink14.xml"/><Relationship Id="rId35" Type="http://schemas.openxmlformats.org/officeDocument/2006/relationships/image" Target="../media/image21.png"/><Relationship Id="rId8" Type="http://schemas.openxmlformats.org/officeDocument/2006/relationships/customXml" Target="../ink/ink3.xml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F2E77-7EF0-C657-3E95-E2AD7B265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Timing VIX futures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EB8A0-E7C3-1751-4CAA-E8910410C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Sample Research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5539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C70E-94E6-4F75-3877-0FD50D9B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#1. Frame the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D651A-241C-BEBD-16E1-D810F57CA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test a strategy that sells volatility by selling short VIX futures contracts</a:t>
            </a:r>
          </a:p>
          <a:p>
            <a:pPr lvl="1"/>
            <a:r>
              <a:rPr lang="en-US" dirty="0"/>
              <a:t>Implements trades on a daily basis</a:t>
            </a:r>
          </a:p>
          <a:p>
            <a:pPr lvl="1"/>
            <a:r>
              <a:rPr lang="en-US" dirty="0"/>
              <a:t>Uses Ridge regression to create a forecast for the expected return on the front-month VIX futures contract every day</a:t>
            </a:r>
          </a:p>
          <a:p>
            <a:pPr lvl="1"/>
            <a:r>
              <a:rPr lang="en-US" dirty="0"/>
              <a:t>Based on this signal, we will either short the contract or stay in cash</a:t>
            </a:r>
          </a:p>
          <a:p>
            <a:pPr lvl="1"/>
            <a:r>
              <a:rPr lang="en-US" dirty="0"/>
              <a:t>Compare to a strategy that constantly shorts VIX front-month futures</a:t>
            </a:r>
          </a:p>
        </p:txBody>
      </p:sp>
    </p:spTree>
    <p:extLst>
      <p:ext uri="{BB962C8B-B14F-4D97-AF65-F5344CB8AC3E}">
        <p14:creationId xmlns:p14="http://schemas.microsoft.com/office/powerpoint/2010/main" val="21092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7291-14CF-14FB-F961-81D404E7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#2. Discuss the Finance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FC254-108A-E2F4-9F3B-29A6759B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551"/>
            <a:ext cx="10515600" cy="4730412"/>
          </a:xfrm>
        </p:spPr>
        <p:txBody>
          <a:bodyPr/>
          <a:lstStyle/>
          <a:p>
            <a:r>
              <a:rPr lang="en-US" dirty="0"/>
              <a:t>Well-documented premium to shorting volatility</a:t>
            </a:r>
          </a:p>
          <a:p>
            <a:pPr lvl="1"/>
            <a:r>
              <a:rPr lang="en-US" dirty="0"/>
              <a:t>Option buyers willing to pay a high price for downside protection</a:t>
            </a:r>
          </a:p>
          <a:p>
            <a:pPr lvl="1"/>
            <a:r>
              <a:rPr lang="en-US" dirty="0"/>
              <a:t>Well-documented VRP – averaged annualized realized volatility is 3.54% below the VIX implied volatility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3904A-12CD-20FE-0602-4767873D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716" y="2980965"/>
            <a:ext cx="6074568" cy="380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2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7DFC-8931-53FD-82E4-2FE57454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#2. Discuss Finance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6D27-E9DF-658A-8174-91F8AB8B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756"/>
            <a:ext cx="10515600" cy="4698207"/>
          </a:xfrm>
        </p:spPr>
        <p:txBody>
          <a:bodyPr/>
          <a:lstStyle/>
          <a:p>
            <a:r>
              <a:rPr lang="en-US" dirty="0"/>
              <a:t>Return to constantly shorting front-month VIX futures:</a:t>
            </a:r>
          </a:p>
          <a:p>
            <a:pPr lvl="1"/>
            <a:r>
              <a:rPr lang="en-US" dirty="0"/>
              <a:t>Annual excess returns: 42.3%, </a:t>
            </a:r>
            <a:r>
              <a:rPr lang="en-US" dirty="0" err="1"/>
              <a:t>StDev</a:t>
            </a:r>
            <a:r>
              <a:rPr lang="en-US" dirty="0"/>
              <a:t>: 94.3%, Sharpe ratio: 0.45, Skew: -2.52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DBABC-DE03-A363-8B20-AACF9B4A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001" y="2331707"/>
            <a:ext cx="6283998" cy="425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4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7DFC-8931-53FD-82E4-2FE57454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#2. Discuss Finance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6D27-E9DF-658A-8174-91F8AB8B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756"/>
            <a:ext cx="10515600" cy="4698207"/>
          </a:xfrm>
        </p:spPr>
        <p:txBody>
          <a:bodyPr/>
          <a:lstStyle/>
          <a:p>
            <a:r>
              <a:rPr lang="en-US" dirty="0"/>
              <a:t>Silly to run a strategy at 94% vol; what about 25% VIX, 75% </a:t>
            </a:r>
            <a:r>
              <a:rPr lang="en-US" dirty="0" err="1"/>
              <a:t>t-bills</a:t>
            </a:r>
            <a:endParaRPr lang="en-US" dirty="0"/>
          </a:p>
          <a:p>
            <a:pPr lvl="1"/>
            <a:r>
              <a:rPr lang="en-US" dirty="0"/>
              <a:t>12.1% return, 23.5% </a:t>
            </a:r>
            <a:r>
              <a:rPr lang="en-US" dirty="0" err="1"/>
              <a:t>stdev</a:t>
            </a:r>
            <a:r>
              <a:rPr lang="en-US" dirty="0"/>
              <a:t>, 0.51 </a:t>
            </a:r>
            <a:r>
              <a:rPr lang="en-US" dirty="0" err="1"/>
              <a:t>sharpe</a:t>
            </a:r>
            <a:r>
              <a:rPr lang="en-US" dirty="0"/>
              <a:t>, -2.52 skew; min daily ret -28.1%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C4F2E-5950-C8DF-4AF2-CEC40D681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684" y="2341489"/>
            <a:ext cx="5981621" cy="396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5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11B3-A0E3-AB8D-921E-482D0F64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#3: Describe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3C4D-2A87-449C-B5FB-ADE376455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strategy will use a Ridge routine to forecast daily returns on the VIX futures in an effort to avoid these large negative returns, reduce skewness, and enhance Sharpe ratios</a:t>
            </a:r>
          </a:p>
          <a:p>
            <a:r>
              <a:rPr lang="en-US" dirty="0"/>
              <a:t>Strategy: short VIX front month future contract with 50% weight unless a large positive return is forecast for VIX; then go 100% </a:t>
            </a:r>
            <a:r>
              <a:rPr lang="en-US" dirty="0" err="1"/>
              <a:t>t-bills</a:t>
            </a:r>
            <a:endParaRPr lang="en-US" dirty="0"/>
          </a:p>
          <a:p>
            <a:r>
              <a:rPr lang="en-US" dirty="0"/>
              <a:t>Alternate specification: potentially go long the VIX futures if opportunity is large enough (high hurdle); also try Lasso</a:t>
            </a:r>
          </a:p>
        </p:txBody>
      </p:sp>
    </p:spTree>
    <p:extLst>
      <p:ext uri="{BB962C8B-B14F-4D97-AF65-F5344CB8AC3E}">
        <p14:creationId xmlns:p14="http://schemas.microsoft.com/office/powerpoint/2010/main" val="3802890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E266-1151-8C12-9CAC-0E6E505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#3: Describe Strategy (data)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33F9-A649-9143-6B41-E47447523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Y-value: front month VIX futures contract (daily)</a:t>
            </a:r>
          </a:p>
          <a:p>
            <a:pPr lvl="1"/>
            <a:r>
              <a:rPr lang="en-US" dirty="0"/>
              <a:t>May 2004 through October 2023</a:t>
            </a:r>
          </a:p>
          <a:p>
            <a:r>
              <a:rPr lang="en-US" dirty="0"/>
              <a:t>X-values (23 total): </a:t>
            </a:r>
          </a:p>
          <a:p>
            <a:pPr lvl="1"/>
            <a:r>
              <a:rPr lang="en-US" dirty="0"/>
              <a:t>lags of S&amp;P 500 return (1, 3, 5, 22, 66, 132 days)</a:t>
            </a:r>
          </a:p>
          <a:p>
            <a:pPr lvl="1"/>
            <a:r>
              <a:rPr lang="en-US" dirty="0"/>
              <a:t>VIX moving averages: difference between VIX and (3, 5, 22, 66) day MA</a:t>
            </a:r>
          </a:p>
          <a:p>
            <a:pPr lvl="1"/>
            <a:r>
              <a:rPr lang="en-US" dirty="0"/>
              <a:t>VRP: difference between VIX level and lagged 5-day volatility (2 measures)</a:t>
            </a:r>
          </a:p>
          <a:p>
            <a:pPr lvl="1"/>
            <a:r>
              <a:rPr lang="en-US" dirty="0"/>
              <a:t>VIX future returns: lagged 1, 5, and 22 day returns on VIX futures</a:t>
            </a:r>
          </a:p>
          <a:p>
            <a:pPr lvl="1"/>
            <a:r>
              <a:rPr lang="en-US" dirty="0"/>
              <a:t>VIX slope: difference between VIX and VIX future; VIX future and 2</a:t>
            </a:r>
            <a:r>
              <a:rPr lang="en-US" baseline="30000" dirty="0"/>
              <a:t>nd</a:t>
            </a:r>
            <a:r>
              <a:rPr lang="en-US" dirty="0"/>
              <a:t> future</a:t>
            </a:r>
          </a:p>
          <a:p>
            <a:pPr lvl="1"/>
            <a:r>
              <a:rPr lang="en-US" dirty="0"/>
              <a:t>Macro predictors: e/p, inflation, BAA spread, </a:t>
            </a:r>
            <a:r>
              <a:rPr lang="en-US" dirty="0" err="1"/>
              <a:t>ntis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21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4791-D204-BBBC-5742-1A3AD42D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#3: Describe Strategy (process)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A2B6-DFA5-B5BF-9B93-659566327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Process: read in all predictors and normalize</a:t>
            </a:r>
          </a:p>
          <a:p>
            <a:r>
              <a:rPr lang="en-US" dirty="0"/>
              <a:t>Run Ridge with CV specification; calibrate model first 252 days and then do walk-forward out of sample. Store forecasts.</a:t>
            </a:r>
          </a:p>
          <a:p>
            <a:r>
              <a:rPr lang="en-US" dirty="0"/>
              <a:t>Strategy will short front-month VIX futures unless forecasted return for the VIX future is above 3% </a:t>
            </a:r>
          </a:p>
          <a:p>
            <a:r>
              <a:rPr lang="en-US" dirty="0"/>
              <a:t>Reevaluate on a daily basis</a:t>
            </a:r>
          </a:p>
        </p:txBody>
      </p:sp>
    </p:spTree>
    <p:extLst>
      <p:ext uri="{BB962C8B-B14F-4D97-AF65-F5344CB8AC3E}">
        <p14:creationId xmlns:p14="http://schemas.microsoft.com/office/powerpoint/2010/main" val="1778537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CE89-4E98-8586-7551-AFF4F7A84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Results (Regression Coefficients)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ABCF-EB8D-A55B-8306-09F83344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64DE8-C278-E2C9-A82A-08C2E9735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1825625"/>
            <a:ext cx="10734675" cy="1990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F99BB6-1BD0-C3B9-DC47-2EF6722DA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3816350"/>
            <a:ext cx="11696700" cy="1952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D133C3-CF6E-70D9-5077-184E14A799D3}"/>
                  </a:ext>
                </a:extLst>
              </p14:cNvPr>
              <p14:cNvContentPartPr/>
              <p14:nvPr/>
            </p14:nvContentPartPr>
            <p14:xfrm>
              <a:off x="5013809" y="4908842"/>
              <a:ext cx="69408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D133C3-CF6E-70D9-5077-184E14A799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169" y="4801202"/>
                <a:ext cx="801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2DEA09-F6FE-2F59-1CE3-2235FD92F562}"/>
                  </a:ext>
                </a:extLst>
              </p14:cNvPr>
              <p14:cNvContentPartPr/>
              <p14:nvPr/>
            </p14:nvContentPartPr>
            <p14:xfrm>
              <a:off x="5898329" y="2374802"/>
              <a:ext cx="1474200" cy="99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2DEA09-F6FE-2F59-1CE3-2235FD92F5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44689" y="2267162"/>
                <a:ext cx="15818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1E3C95-44DF-0B62-A9C9-8E42F1B8BB93}"/>
                  </a:ext>
                </a:extLst>
              </p14:cNvPr>
              <p14:cNvContentPartPr/>
              <p14:nvPr/>
            </p14:nvContentPartPr>
            <p14:xfrm>
              <a:off x="6153209" y="4908482"/>
              <a:ext cx="582840" cy="8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1E3C95-44DF-0B62-A9C9-8E42F1B8BB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99569" y="4800482"/>
                <a:ext cx="6904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E17330-A4FD-089A-52C6-DF30304C0D44}"/>
                  </a:ext>
                </a:extLst>
              </p14:cNvPr>
              <p14:cNvContentPartPr/>
              <p14:nvPr/>
            </p14:nvContentPartPr>
            <p14:xfrm>
              <a:off x="7749449" y="2360402"/>
              <a:ext cx="1570320" cy="46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E17330-A4FD-089A-52C6-DF30304C0D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95449" y="2252762"/>
                <a:ext cx="16779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6F14358-06CB-015A-E360-4094450E3CA9}"/>
                  </a:ext>
                </a:extLst>
              </p14:cNvPr>
              <p14:cNvContentPartPr/>
              <p14:nvPr/>
            </p14:nvContentPartPr>
            <p14:xfrm>
              <a:off x="9608129" y="2352482"/>
              <a:ext cx="1595880" cy="143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6F14358-06CB-015A-E360-4094450E3C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54489" y="2244482"/>
                <a:ext cx="17035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C9FFD80-0EC7-020C-E396-2884D99BECCE}"/>
                  </a:ext>
                </a:extLst>
              </p14:cNvPr>
              <p14:cNvContentPartPr/>
              <p14:nvPr/>
            </p14:nvContentPartPr>
            <p14:xfrm>
              <a:off x="7119809" y="4939082"/>
              <a:ext cx="727200" cy="23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C9FFD80-0EC7-020C-E396-2884D99BECC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66169" y="4831082"/>
                <a:ext cx="83484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D80DCB4-8207-64CD-65CD-3535B54F9A84}"/>
                  </a:ext>
                </a:extLst>
              </p14:cNvPr>
              <p14:cNvContentPartPr/>
              <p14:nvPr/>
            </p14:nvContentPartPr>
            <p14:xfrm>
              <a:off x="1971089" y="2660282"/>
              <a:ext cx="1548000" cy="84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D80DCB4-8207-64CD-65CD-3535B54F9A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17089" y="2552282"/>
                <a:ext cx="16556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7B6385C-5DA8-338E-A46F-399B1BD0328C}"/>
                  </a:ext>
                </a:extLst>
              </p14:cNvPr>
              <p14:cNvContentPartPr/>
              <p14:nvPr/>
            </p14:nvContentPartPr>
            <p14:xfrm>
              <a:off x="8312129" y="4908122"/>
              <a:ext cx="740160" cy="23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7B6385C-5DA8-338E-A46F-399B1BD0328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58129" y="4800122"/>
                <a:ext cx="847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1D16031-983F-F93B-C6C6-B0E1CD868139}"/>
                  </a:ext>
                </a:extLst>
              </p14:cNvPr>
              <p14:cNvContentPartPr/>
              <p14:nvPr/>
            </p14:nvContentPartPr>
            <p14:xfrm>
              <a:off x="7659809" y="2997242"/>
              <a:ext cx="1508400" cy="76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1D16031-983F-F93B-C6C6-B0E1CD8681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06169" y="2889602"/>
                <a:ext cx="16160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0D652CB-892D-3D65-E081-866E6D5EAB17}"/>
                  </a:ext>
                </a:extLst>
              </p14:cNvPr>
              <p14:cNvContentPartPr/>
              <p14:nvPr/>
            </p14:nvContentPartPr>
            <p14:xfrm>
              <a:off x="9623609" y="3026762"/>
              <a:ext cx="1572840" cy="8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0D652CB-892D-3D65-E081-866E6D5EAB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69609" y="2919122"/>
                <a:ext cx="168048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A2183F7-636C-5568-9D13-48D5AA4D67CC}"/>
                  </a:ext>
                </a:extLst>
              </p14:cNvPr>
              <p14:cNvContentPartPr/>
              <p14:nvPr/>
            </p14:nvContentPartPr>
            <p14:xfrm>
              <a:off x="7135289" y="5276042"/>
              <a:ext cx="935280" cy="23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A2183F7-636C-5568-9D13-48D5AA4D67C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81289" y="5168042"/>
                <a:ext cx="10429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333A4E4-0397-686A-94C2-EE72EEA12706}"/>
                  </a:ext>
                </a:extLst>
              </p14:cNvPr>
              <p14:cNvContentPartPr/>
              <p14:nvPr/>
            </p14:nvContentPartPr>
            <p14:xfrm>
              <a:off x="8671769" y="5223842"/>
              <a:ext cx="890280" cy="46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333A4E4-0397-686A-94C2-EE72EEA1270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617769" y="5116202"/>
                <a:ext cx="9979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DD9C313-B295-AF5B-DD29-1E16C5BD3D73}"/>
                  </a:ext>
                </a:extLst>
              </p14:cNvPr>
              <p14:cNvContentPartPr/>
              <p14:nvPr/>
            </p14:nvContentPartPr>
            <p14:xfrm>
              <a:off x="10162889" y="5253362"/>
              <a:ext cx="1427400" cy="39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DD9C313-B295-AF5B-DD29-1E16C5BD3D7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09249" y="5145362"/>
                <a:ext cx="153504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BFA41FB-A421-2609-CF36-0CABF5B9133B}"/>
                  </a:ext>
                </a:extLst>
              </p14:cNvPr>
              <p14:cNvContentPartPr/>
              <p14:nvPr/>
            </p14:nvContentPartPr>
            <p14:xfrm>
              <a:off x="1648529" y="5575562"/>
              <a:ext cx="997200" cy="698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BFA41FB-A421-2609-CF36-0CABF5B913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94889" y="5467922"/>
                <a:ext cx="11048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4D68283-F74E-77A0-963D-B1D0A7300827}"/>
                  </a:ext>
                </a:extLst>
              </p14:cNvPr>
              <p14:cNvContentPartPr/>
              <p14:nvPr/>
            </p14:nvContentPartPr>
            <p14:xfrm>
              <a:off x="3275369" y="5568362"/>
              <a:ext cx="1179360" cy="45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4D68283-F74E-77A0-963D-B1D0A730082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21369" y="5460362"/>
                <a:ext cx="128700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F610533-E6A6-781E-2512-ACB2624E4E56}"/>
                  </a:ext>
                </a:extLst>
              </p14:cNvPr>
              <p14:cNvContentPartPr/>
              <p14:nvPr/>
            </p14:nvContentPartPr>
            <p14:xfrm>
              <a:off x="2105729" y="3346802"/>
              <a:ext cx="1197720" cy="64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F610533-E6A6-781E-2512-ACB2624E4E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52089" y="3239162"/>
                <a:ext cx="130536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1E24C6C-EFB7-A4F1-A7DA-BC8F6D92B902}"/>
                  </a:ext>
                </a:extLst>
              </p14:cNvPr>
              <p14:cNvContentPartPr/>
              <p14:nvPr/>
            </p14:nvContentPartPr>
            <p14:xfrm>
              <a:off x="3964769" y="3327722"/>
              <a:ext cx="1278720" cy="76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1E24C6C-EFB7-A4F1-A7DA-BC8F6D92B9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10769" y="3219722"/>
                <a:ext cx="13863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28F68E5-B2DC-7D1B-ADD8-C9EBBA3B62EC}"/>
                  </a:ext>
                </a:extLst>
              </p14:cNvPr>
              <p14:cNvContentPartPr/>
              <p14:nvPr/>
            </p14:nvContentPartPr>
            <p14:xfrm>
              <a:off x="5935769" y="3220082"/>
              <a:ext cx="1460160" cy="208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28F68E5-B2DC-7D1B-ADD8-C9EBBA3B62E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82129" y="3112442"/>
                <a:ext cx="1567800" cy="4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897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AA39-5034-A4DA-4105-CE050383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Results (quintile forecasts)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5CF10-E243-2758-5417-47FC7851E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3261" cy="4351338"/>
          </a:xfrm>
        </p:spPr>
        <p:txBody>
          <a:bodyPr/>
          <a:lstStyle/>
          <a:p>
            <a:r>
              <a:rPr lang="en-US" dirty="0"/>
              <a:t>Positive returns for VIX futures (Y) at both high forecasted values and low forecasted values</a:t>
            </a:r>
          </a:p>
          <a:p>
            <a:r>
              <a:rPr lang="en-US" dirty="0"/>
              <a:t>Evidence of non-linearities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0F74B-BF50-781D-A072-C6F916B2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69" y="1303702"/>
            <a:ext cx="2806186" cy="508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3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B31A-6DC1-4703-0173-1CD4BE3A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Results – Portfolio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ADBD3-7953-7131-4144-519B6E365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" y="2900596"/>
            <a:ext cx="12183200" cy="144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4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12CD-6FD2-FF5F-93AE-E754A0AB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Results – Cumulative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5875-803F-5DBA-5BE5-E3F493488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5"/>
            <a:ext cx="10515600" cy="4782878"/>
          </a:xfrm>
        </p:spPr>
        <p:txBody>
          <a:bodyPr/>
          <a:lstStyle/>
          <a:p>
            <a:r>
              <a:rPr lang="en-US" dirty="0"/>
              <a:t>Orange = strategy; Blue = benchmark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0E42A-F6ED-D37B-291A-A2ADB9FD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11" y="1915541"/>
            <a:ext cx="72390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5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66C5-03B1-6270-154D-CEC2277D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Results -- Subsample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EBD4D-134B-FA97-D2AA-E42EFA262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319"/>
            <a:ext cx="10515600" cy="47696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Since March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902E8-EF73-7B93-7FA3-BD0CDBE87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412" y="2182803"/>
            <a:ext cx="6387176" cy="42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08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66C5-03B1-6270-154D-CEC2277D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#4: Results -- Subsample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EBD4D-134B-FA97-D2AA-E42EFA262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319"/>
            <a:ext cx="10515600" cy="47696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Since March 2018</a:t>
            </a:r>
          </a:p>
          <a:p>
            <a:r>
              <a:rPr lang="en-US" dirty="0"/>
              <a:t>Strategy: </a:t>
            </a:r>
          </a:p>
          <a:p>
            <a:pPr lvl="1"/>
            <a:r>
              <a:rPr lang="en-US" dirty="0"/>
              <a:t>Mean ret 6.29%</a:t>
            </a:r>
          </a:p>
          <a:p>
            <a:pPr lvl="1"/>
            <a:r>
              <a:rPr lang="en-US" dirty="0" err="1"/>
              <a:t>Stdev</a:t>
            </a:r>
            <a:r>
              <a:rPr lang="en-US" dirty="0"/>
              <a:t> 49.2%</a:t>
            </a:r>
          </a:p>
          <a:p>
            <a:pPr lvl="1"/>
            <a:r>
              <a:rPr lang="en-US" dirty="0"/>
              <a:t>Sharpe 0.11</a:t>
            </a:r>
          </a:p>
          <a:p>
            <a:r>
              <a:rPr lang="en-US" dirty="0"/>
              <a:t>Benchmark: </a:t>
            </a:r>
          </a:p>
          <a:p>
            <a:pPr lvl="1"/>
            <a:r>
              <a:rPr lang="en-US" dirty="0"/>
              <a:t>Mean ret 6.81%</a:t>
            </a:r>
          </a:p>
          <a:p>
            <a:pPr lvl="1"/>
            <a:r>
              <a:rPr lang="en-US" dirty="0" err="1"/>
              <a:t>Stdev</a:t>
            </a:r>
            <a:r>
              <a:rPr lang="en-US" dirty="0"/>
              <a:t> 56.3%</a:t>
            </a:r>
          </a:p>
          <a:p>
            <a:pPr lvl="1"/>
            <a:r>
              <a:rPr lang="en-US" dirty="0"/>
              <a:t>Sharpe 0.00</a:t>
            </a:r>
          </a:p>
        </p:txBody>
      </p:sp>
    </p:spTree>
    <p:extLst>
      <p:ext uri="{BB962C8B-B14F-4D97-AF65-F5344CB8AC3E}">
        <p14:creationId xmlns:p14="http://schemas.microsoft.com/office/powerpoint/2010/main" val="3982494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E6FE-F09B-E3C3-A30B-878139D2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Sample Test (Updated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AE3DC-9E3D-9228-EBAC-642CA228C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Original study ended in 2023; let’s look at returns from 10/31/2023-10/31/2024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09795-B681-8929-9E96-31A36A71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630" y="2485806"/>
            <a:ext cx="5553408" cy="382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4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2B90-0502-2FB5-9DE9-389CC706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Sample Test (Updated 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99E8A-4E54-ACDC-5D1B-6AD9D714E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097" y="3641834"/>
            <a:ext cx="10620703" cy="2464184"/>
          </a:xfrm>
        </p:spPr>
        <p:txBody>
          <a:bodyPr/>
          <a:lstStyle/>
          <a:p>
            <a:r>
              <a:rPr lang="en-US" dirty="0"/>
              <a:t>Unconditional vol selling was not a good strategy; but the timing component has worked, avoiding the large drawdown in August 2024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D166B-0F78-B3ED-6D6A-48DFEB051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2" y="1825625"/>
            <a:ext cx="8901440" cy="148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6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D056-FAD7-69E3-BAFD-BF747F8D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92252-F8F7-FA3F-7088-4EDA3818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194"/>
            <a:ext cx="10515600" cy="4626769"/>
          </a:xfrm>
        </p:spPr>
        <p:txBody>
          <a:bodyPr/>
          <a:lstStyle/>
          <a:p>
            <a:r>
              <a:rPr lang="en-US" dirty="0"/>
              <a:t>Account for non-linearities and interactions </a:t>
            </a:r>
          </a:p>
          <a:p>
            <a:pPr lvl="1"/>
            <a:r>
              <a:rPr lang="en-US" dirty="0"/>
              <a:t>Especially between slope and momentum factors, level factors</a:t>
            </a:r>
          </a:p>
          <a:p>
            <a:r>
              <a:rPr lang="en-US" dirty="0"/>
              <a:t>Choose between front and second month contract – or both?</a:t>
            </a:r>
          </a:p>
          <a:p>
            <a:r>
              <a:rPr lang="en-US" dirty="0"/>
              <a:t>Adjust for time to expiration</a:t>
            </a:r>
          </a:p>
          <a:p>
            <a:pPr lvl="1"/>
            <a:r>
              <a:rPr lang="en-US" dirty="0"/>
              <a:t>May see different behavior near expiration day</a:t>
            </a:r>
          </a:p>
          <a:p>
            <a:pPr lvl="1"/>
            <a:r>
              <a:rPr lang="en-US" dirty="0"/>
              <a:t>Normalize for days remaining, especially for slope</a:t>
            </a:r>
          </a:p>
          <a:p>
            <a:r>
              <a:rPr lang="en-US" dirty="0"/>
              <a:t>Additional data</a:t>
            </a:r>
          </a:p>
          <a:p>
            <a:pPr lvl="1"/>
            <a:r>
              <a:rPr lang="en-US" dirty="0"/>
              <a:t>Incorporate forecasts of future volatility? </a:t>
            </a:r>
          </a:p>
          <a:p>
            <a:r>
              <a:rPr lang="en-US" dirty="0"/>
              <a:t>Think about how to assess the crowding effect</a:t>
            </a:r>
          </a:p>
          <a:p>
            <a:r>
              <a:rPr lang="en-US" dirty="0"/>
              <a:t>Measure number of trades and transaction costs</a:t>
            </a:r>
          </a:p>
        </p:txBody>
      </p:sp>
    </p:spTree>
    <p:extLst>
      <p:ext uri="{BB962C8B-B14F-4D97-AF65-F5344CB8AC3E}">
        <p14:creationId xmlns:p14="http://schemas.microsoft.com/office/powerpoint/2010/main" val="2409339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6389-5EC3-8347-8B28-FF2A36FC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Notes about Your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EE6B-45FC-F9A6-5FF2-63F399B53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 here is sparse; your written paper should go into a lot more detail around everything</a:t>
            </a:r>
          </a:p>
          <a:p>
            <a:pPr lvl="1"/>
            <a:r>
              <a:rPr lang="en-US" dirty="0"/>
              <a:t>After hearing the presentation, I should be able to understand what you do and why, and the general results</a:t>
            </a:r>
          </a:p>
          <a:p>
            <a:pPr lvl="1"/>
            <a:r>
              <a:rPr lang="en-US" dirty="0"/>
              <a:t>After reading your paper I should be able to (more or less) recreate your results from scratch</a:t>
            </a:r>
          </a:p>
          <a:p>
            <a:r>
              <a:rPr lang="en-US" dirty="0"/>
              <a:t>These slides are “adequate”. Yours could be better.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19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755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Arial</vt:lpstr>
      <vt:lpstr>Office Theme</vt:lpstr>
      <vt:lpstr>Timing VIX futures</vt:lpstr>
      <vt:lpstr>#1. Frame the Idea</vt:lpstr>
      <vt:lpstr>#2. Discuss the Finance Theory</vt:lpstr>
      <vt:lpstr>#2. Discuss Finance Theory</vt:lpstr>
      <vt:lpstr>#2. Discuss Finance Theory</vt:lpstr>
      <vt:lpstr>#3: Describe Strategy</vt:lpstr>
      <vt:lpstr>#3: Describe Strategy (data)</vt:lpstr>
      <vt:lpstr>#3: Describe Strategy (process)</vt:lpstr>
      <vt:lpstr>#4: Results (Regression Coefficients)</vt:lpstr>
      <vt:lpstr>#4: Results (quintile forecasts)</vt:lpstr>
      <vt:lpstr>#4: Results – Portfolio Results</vt:lpstr>
      <vt:lpstr>#4: Results – Cumulative Returns</vt:lpstr>
      <vt:lpstr>#4: Results -- Subsample</vt:lpstr>
      <vt:lpstr>#4: Results -- Subsample</vt:lpstr>
      <vt:lpstr>Out of Sample Test (Updated 2024)</vt:lpstr>
      <vt:lpstr>Out of Sample Test (Updated 2024)</vt:lpstr>
      <vt:lpstr>Further Work</vt:lpstr>
      <vt:lpstr>Final Notes about Your 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Timing VIX futures</dc:title>
  <dc:creator>Shepherd, Shane</dc:creator>
  <cp:lastModifiedBy>Shepherd, Shane</cp:lastModifiedBy>
  <cp:revision>2</cp:revision>
  <dcterms:created xsi:type="dcterms:W3CDTF">2023-11-20T04:05:59Z</dcterms:created>
  <dcterms:modified xsi:type="dcterms:W3CDTF">2024-11-06T01:36:18Z</dcterms:modified>
</cp:coreProperties>
</file>