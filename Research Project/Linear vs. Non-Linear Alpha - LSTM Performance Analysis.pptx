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4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Inter" panose="02000503000000020004" pitchFamily="2" charset="0"/>
      <p:regular r:id="rId18"/>
      <p:bold r:id="rId19"/>
      <p:italic r:id="rId20"/>
      <p:boldItalic r:id="rId21"/>
    </p:embeddedFont>
    <p:embeddedFont>
      <p:font typeface="Inter Light" panose="02000503000000020004" pitchFamily="2" charset="0"/>
      <p:regular r:id="rId22"/>
      <p:bold r:id="rId23"/>
      <p:italic r:id="rId24"/>
      <p:boldItalic r:id="rId25"/>
    </p:embeddedFont>
    <p:embeddedFont>
      <p:font typeface="Playfair Display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213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1624393-989E-4A8E-90BE-16FDAC524BE5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7"/>
    <p:restoredTop sz="94718"/>
  </p:normalViewPr>
  <p:slideViewPr>
    <p:cSldViewPr snapToGrid="0" showGuides="1">
      <p:cViewPr>
        <p:scale>
          <a:sx n="97" d="100"/>
          <a:sy n="97" d="100"/>
        </p:scale>
        <p:origin x="1024" y="616"/>
      </p:cViewPr>
      <p:guideLst>
        <p:guide orient="horz" pos="221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403b4bcba_4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a403b4bcba_4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403b4bcba_4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a403b4bcba_4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403b4bcba_4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3a403b4bcba_4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403b4bcba_4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3a403b4bcba_4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2.png"/><Relationship Id="rId2" Type="http://schemas.openxmlformats.org/officeDocument/2006/relationships/tags" Target="../tags/tag2.xml"/><Relationship Id="rId16" Type="http://schemas.openxmlformats.org/officeDocument/2006/relationships/notesSlide" Target="../notesSlides/notesSlide3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image" Target="../media/image4.pn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3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2.png"/><Relationship Id="rId5" Type="http://schemas.openxmlformats.org/officeDocument/2006/relationships/tags" Target="../tags/tag19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18.xml"/><Relationship Id="rId9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6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5.png"/><Relationship Id="rId5" Type="http://schemas.openxmlformats.org/officeDocument/2006/relationships/tags" Target="../tags/tag27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26.xml"/><Relationship Id="rId9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image" Target="../media/image2.png"/><Relationship Id="rId5" Type="http://schemas.openxmlformats.org/officeDocument/2006/relationships/tags" Target="../tags/tag35.xml"/><Relationship Id="rId10" Type="http://schemas.openxmlformats.org/officeDocument/2006/relationships/notesSlide" Target="../notesSlides/notesSlide13.xml"/><Relationship Id="rId4" Type="http://schemas.openxmlformats.org/officeDocument/2006/relationships/tags" Target="../tags/tag34.xml"/><Relationship Id="rId9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1953666"/>
            <a:ext cx="9001125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rPr>
              <a:t>Linear vs. Non-Linear Alpha</a:t>
            </a:r>
          </a:p>
        </p:txBody>
      </p:sp>
      <p:sp>
        <p:nvSpPr>
          <p:cNvPr id="86" name="Google Shape;86;p13"/>
          <p:cNvSpPr/>
          <p:nvPr/>
        </p:nvSpPr>
        <p:spPr>
          <a:xfrm>
            <a:off x="5619750" y="3005137"/>
            <a:ext cx="952500" cy="95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395662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 Light" panose="02000503000000020004"/>
                <a:ea typeface="Inter Light" panose="02000503000000020004"/>
                <a:cs typeface="Inter Light" panose="02000503000000020004"/>
                <a:sym typeface="Inter Light" panose="02000503000000020004"/>
              </a:rPr>
              <a:t>A Liquidity-Aware Comparison of LSTM and Ridge Signals Across Equal-Weighted and Market-Cap-Weighted Portfolios</a:t>
            </a:r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4508003"/>
            <a:ext cx="857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0A5F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Presented by Dongtong Zhong / Feifan Gu / Liwen Dai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657225" y="2329815"/>
            <a:ext cx="104775" cy="24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2236140"/>
            <a:ext cx="10668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Limitation: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Traditional linear models (CAPM,</a:t>
            </a:r>
            <a:r>
              <a:rPr lang="en-US" sz="15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Fama-French) assume static, additive relationships between factors and returns.</a:t>
            </a:r>
          </a:p>
        </p:txBody>
      </p:sp>
      <p:sp>
        <p:nvSpPr>
          <p:cNvPr id="96" name="Google Shape;96;p14"/>
          <p:cNvSpPr txBox="1"/>
          <p:nvPr/>
        </p:nvSpPr>
        <p:spPr>
          <a:xfrm>
            <a:off x="657225" y="3476737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97" name="Google Shape;97;p14"/>
          <p:cNvSpPr txBox="1"/>
          <p:nvPr/>
        </p:nvSpPr>
        <p:spPr>
          <a:xfrm>
            <a:off x="743585" y="3384085"/>
            <a:ext cx="10668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Reality: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Markets are complex adaptive systems with low signal-to-noise ratios and non-stationary dynamics.</a:t>
            </a:r>
          </a:p>
        </p:txBody>
      </p:sp>
      <p:sp>
        <p:nvSpPr>
          <p:cNvPr id="98" name="Google Shape;98;p14"/>
          <p:cNvSpPr txBox="1"/>
          <p:nvPr/>
        </p:nvSpPr>
        <p:spPr>
          <a:xfrm>
            <a:off x="657225" y="43862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295445"/>
            <a:ext cx="10668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Solution: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LSTM (Long Short-Term Memory) networks process sequential data, capturing temporal dependencies and path-dependent patterns (e.g., volatility decay) invisible to linear benchmarks.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60A5F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Why Non-Linear Modeling?</a:t>
            </a:r>
          </a:p>
        </p:txBody>
      </p:sp>
      <p:sp>
        <p:nvSpPr>
          <p:cNvPr id="101" name="Google Shape;101;p14"/>
          <p:cNvSpPr/>
          <p:nvPr/>
        </p:nvSpPr>
        <p:spPr>
          <a:xfrm>
            <a:off x="571500" y="12001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2914650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FFFFF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rPr>
              <a:t>Universe Constraints</a:t>
            </a:r>
          </a:p>
        </p:txBody>
      </p:sp>
      <p:sp>
        <p:nvSpPr>
          <p:cNvPr id="109" name="Google Shape;109;p15"/>
          <p:cNvSpPr txBox="1"/>
          <p:nvPr>
            <p:custDataLst>
              <p:tags r:id="rId1"/>
            </p:custDataLst>
          </p:nvPr>
        </p:nvSpPr>
        <p:spPr>
          <a:xfrm>
            <a:off x="657225" y="3305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10" name="Google Shape;110;p15"/>
          <p:cNvSpPr txBox="1"/>
          <p:nvPr>
            <p:custDataLst>
              <p:tags r:id="rId2"/>
            </p:custDataLst>
          </p:nvPr>
        </p:nvSpPr>
        <p:spPr>
          <a:xfrm>
            <a:off x="762000" y="322389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Source: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CRSP Monthly Stock File &amp; Daily Data.</a:t>
            </a:r>
          </a:p>
        </p:txBody>
      </p:sp>
      <p:sp>
        <p:nvSpPr>
          <p:cNvPr id="111" name="Google Shape;111;p15"/>
          <p:cNvSpPr txBox="1"/>
          <p:nvPr>
            <p:custDataLst>
              <p:tags r:id="rId3"/>
            </p:custDataLst>
          </p:nvPr>
        </p:nvSpPr>
        <p:spPr>
          <a:xfrm>
            <a:off x="657225" y="37528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12" name="Google Shape;112;p15"/>
          <p:cNvSpPr txBox="1"/>
          <p:nvPr>
            <p:custDataLst>
              <p:tags r:id="rId4"/>
            </p:custDataLst>
          </p:nvPr>
        </p:nvSpPr>
        <p:spPr>
          <a:xfrm>
            <a:off x="762000" y="367157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Assets: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Ordinary Common Shares (Codes 10, 11) on NYSE, AMEX, NASDAQ.</a:t>
            </a:r>
          </a:p>
        </p:txBody>
      </p:sp>
      <p:sp>
        <p:nvSpPr>
          <p:cNvPr id="113" name="Google Shape;113;p15"/>
          <p:cNvSpPr txBox="1"/>
          <p:nvPr>
            <p:custDataLst>
              <p:tags r:id="rId5"/>
            </p:custDataLst>
          </p:nvPr>
        </p:nvSpPr>
        <p:spPr>
          <a:xfrm>
            <a:off x="657225" y="45053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14" name="Google Shape;114;p15"/>
          <p:cNvSpPr txBox="1"/>
          <p:nvPr>
            <p:custDataLst>
              <p:tags r:id="rId6"/>
            </p:custDataLst>
          </p:nvPr>
        </p:nvSpPr>
        <p:spPr>
          <a:xfrm>
            <a:off x="762000" y="4424045"/>
            <a:ext cx="50484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Time Horizon: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Jan 2005 – Jan 2025.</a:t>
            </a:r>
          </a:p>
        </p:txBody>
      </p:sp>
      <p:sp>
        <p:nvSpPr>
          <p:cNvPr id="115" name="Google Shape;115;p15"/>
          <p:cNvSpPr txBox="1"/>
          <p:nvPr>
            <p:custDataLst>
              <p:tags r:id="rId7"/>
            </p:custDataLst>
          </p:nvPr>
        </p:nvSpPr>
        <p:spPr>
          <a:xfrm>
            <a:off x="6467475" y="30813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16" name="Google Shape;116;p15"/>
          <p:cNvSpPr txBox="1"/>
          <p:nvPr>
            <p:custDataLst>
              <p:tags r:id="rId8"/>
            </p:custDataLst>
          </p:nvPr>
        </p:nvSpPr>
        <p:spPr>
          <a:xfrm>
            <a:off x="6572250" y="2973387"/>
            <a:ext cx="50482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Training (In-Sample):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2005-01 to 2018-12 </a:t>
            </a:r>
          </a:p>
        </p:txBody>
      </p:sp>
      <p:sp>
        <p:nvSpPr>
          <p:cNvPr id="117" name="Google Shape;117;p15"/>
          <p:cNvSpPr txBox="1"/>
          <p:nvPr>
            <p:custDataLst>
              <p:tags r:id="rId9"/>
            </p:custDataLst>
          </p:nvPr>
        </p:nvSpPr>
        <p:spPr>
          <a:xfrm>
            <a:off x="6467475" y="35290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18" name="Google Shape;118;p15"/>
          <p:cNvSpPr txBox="1"/>
          <p:nvPr>
            <p:custDataLst>
              <p:tags r:id="rId10"/>
            </p:custDataLst>
          </p:nvPr>
        </p:nvSpPr>
        <p:spPr>
          <a:xfrm>
            <a:off x="6572250" y="3443287"/>
            <a:ext cx="50482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Validation: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2019-01 to 2022-01 </a:t>
            </a:r>
          </a:p>
        </p:txBody>
      </p:sp>
      <p:sp>
        <p:nvSpPr>
          <p:cNvPr id="119" name="Google Shape;119;p15"/>
          <p:cNvSpPr txBox="1"/>
          <p:nvPr>
            <p:custDataLst>
              <p:tags r:id="rId11"/>
            </p:custDataLst>
          </p:nvPr>
        </p:nvSpPr>
        <p:spPr>
          <a:xfrm>
            <a:off x="6467475" y="39766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20" name="Google Shape;120;p15"/>
          <p:cNvSpPr txBox="1"/>
          <p:nvPr>
            <p:custDataLst>
              <p:tags r:id="rId12"/>
            </p:custDataLst>
          </p:nvPr>
        </p:nvSpPr>
        <p:spPr>
          <a:xfrm>
            <a:off x="6572250" y="3861117"/>
            <a:ext cx="50484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Testing (Out-of-Sample):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2022-01 to 202</a:t>
            </a:r>
            <a:r>
              <a:rPr lang="en-US" sz="1500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5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-1</a:t>
            </a:r>
          </a:p>
        </p:txBody>
      </p:sp>
      <p:sp>
        <p:nvSpPr>
          <p:cNvPr id="121" name="Google Shape;121;p15"/>
          <p:cNvSpPr txBox="1"/>
          <p:nvPr>
            <p:custDataLst>
              <p:tags r:id="rId13"/>
            </p:custDataLst>
          </p:nvPr>
        </p:nvSpPr>
        <p:spPr>
          <a:xfrm>
            <a:off x="6467475" y="44243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22" name="Google Shape;122;p15"/>
          <p:cNvSpPr txBox="1"/>
          <p:nvPr>
            <p:custDataLst>
              <p:tags r:id="rId14"/>
            </p:custDataLst>
          </p:nvPr>
        </p:nvSpPr>
        <p:spPr>
          <a:xfrm>
            <a:off x="6572250" y="4325937"/>
            <a:ext cx="504825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Strict Alignment: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Unified Evaluation Start Date (Jan 31, 2022) </a:t>
            </a:r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60A5F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Data Source &amp; Sample Selection</a:t>
            </a:r>
          </a:p>
        </p:txBody>
      </p:sp>
      <p:sp>
        <p:nvSpPr>
          <p:cNvPr id="124" name="Google Shape;124;p15"/>
          <p:cNvSpPr/>
          <p:nvPr/>
        </p:nvSpPr>
        <p:spPr>
          <a:xfrm>
            <a:off x="571500" y="12001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6381750" y="3490019"/>
            <a:ext cx="5238750" cy="113526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2538412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FFFFF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rPr>
              <a:t>Stock-Level Features</a:t>
            </a:r>
          </a:p>
        </p:txBody>
      </p:sp>
      <p:sp>
        <p:nvSpPr>
          <p:cNvPr id="132" name="Google Shape;132;p16"/>
          <p:cNvSpPr txBox="1"/>
          <p:nvPr/>
        </p:nvSpPr>
        <p:spPr>
          <a:xfrm>
            <a:off x="6381750" y="2261294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FFFFF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rPr>
              <a:t>Rolling Z-Score Normalization</a:t>
            </a:r>
          </a:p>
        </p:txBody>
      </p:sp>
      <p:sp>
        <p:nvSpPr>
          <p:cNvPr id="133" name="Google Shape;133;p16"/>
          <p:cNvSpPr txBox="1"/>
          <p:nvPr/>
        </p:nvSpPr>
        <p:spPr>
          <a:xfrm>
            <a:off x="6381750" y="2689919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To mitigate non-stationarity, features are standardized using a rolling 6-month window:</a:t>
            </a:r>
          </a:p>
        </p:txBody>
      </p:sp>
      <p:sp>
        <p:nvSpPr>
          <p:cNvPr id="134" name="Google Shape;134;p16"/>
          <p:cNvSpPr txBox="1"/>
          <p:nvPr/>
        </p:nvSpPr>
        <p:spPr>
          <a:xfrm>
            <a:off x="6381750" y="481578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This preserves local signal patterns while removing long-term trends.</a:t>
            </a:r>
          </a:p>
        </p:txBody>
      </p:sp>
      <p:sp>
        <p:nvSpPr>
          <p:cNvPr id="135" name="Google Shape;135;p16"/>
          <p:cNvSpPr txBox="1"/>
          <p:nvPr>
            <p:custDataLst>
              <p:tags r:id="rId1"/>
            </p:custDataLst>
          </p:nvPr>
        </p:nvSpPr>
        <p:spPr>
          <a:xfrm>
            <a:off x="657225" y="29289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36" name="Google Shape;136;p16"/>
          <p:cNvSpPr txBox="1"/>
          <p:nvPr>
            <p:custDataLst>
              <p:tags r:id="rId2"/>
            </p:custDataLst>
          </p:nvPr>
        </p:nvSpPr>
        <p:spPr>
          <a:xfrm>
            <a:off x="762000" y="281971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Momentum: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Short-Term (3m) and Long-Term (12m) geometric cumulative returns.</a:t>
            </a:r>
          </a:p>
        </p:txBody>
      </p:sp>
      <p:sp>
        <p:nvSpPr>
          <p:cNvPr id="137" name="Google Shape;137;p16"/>
          <p:cNvSpPr txBox="1"/>
          <p:nvPr>
            <p:custDataLst>
              <p:tags r:id="rId3"/>
            </p:custDataLst>
          </p:nvPr>
        </p:nvSpPr>
        <p:spPr>
          <a:xfrm>
            <a:off x="657225" y="36814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38" name="Google Shape;138;p16"/>
          <p:cNvSpPr txBox="1"/>
          <p:nvPr>
            <p:custDataLst>
              <p:tags r:id="rId4"/>
            </p:custDataLst>
          </p:nvPr>
        </p:nvSpPr>
        <p:spPr>
          <a:xfrm>
            <a:off x="762000" y="360775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Volatility: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Annualized standard deviation (6m rolling).</a:t>
            </a:r>
          </a:p>
        </p:txBody>
      </p:sp>
      <p:sp>
        <p:nvSpPr>
          <p:cNvPr id="139" name="Google Shape;139;p16"/>
          <p:cNvSpPr txBox="1"/>
          <p:nvPr>
            <p:custDataLst>
              <p:tags r:id="rId5"/>
            </p:custDataLst>
          </p:nvPr>
        </p:nvSpPr>
        <p:spPr>
          <a:xfrm>
            <a:off x="657225" y="41290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40" name="Google Shape;140;p16"/>
          <p:cNvSpPr txBox="1"/>
          <p:nvPr>
            <p:custDataLst>
              <p:tags r:id="rId6"/>
            </p:custDataLst>
          </p:nvPr>
        </p:nvSpPr>
        <p:spPr>
          <a:xfrm>
            <a:off x="762000" y="4040822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Dynamics: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Log changes in price  and volume </a:t>
            </a:r>
          </a:p>
        </p:txBody>
      </p:sp>
      <p:sp>
        <p:nvSpPr>
          <p:cNvPr id="141" name="Google Shape;141;p16"/>
          <p:cNvSpPr txBox="1"/>
          <p:nvPr>
            <p:custDataLst>
              <p:tags r:id="rId7"/>
            </p:custDataLst>
          </p:nvPr>
        </p:nvSpPr>
        <p:spPr>
          <a:xfrm>
            <a:off x="657263" y="457676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42" name="Google Shape;142;p16"/>
          <p:cNvSpPr txBox="1"/>
          <p:nvPr>
            <p:custDataLst>
              <p:tags r:id="rId8"/>
            </p:custDataLst>
          </p:nvPr>
        </p:nvSpPr>
        <p:spPr>
          <a:xfrm>
            <a:off x="761925" y="4485957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Liquidity: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Corwin-Schultz Spread proxy.</a:t>
            </a:r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60A5F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Feature Engineering &amp; Normalization</a:t>
            </a:r>
          </a:p>
        </p:txBody>
      </p:sp>
      <p:sp>
        <p:nvSpPr>
          <p:cNvPr id="144" name="Google Shape;144;p16"/>
          <p:cNvSpPr/>
          <p:nvPr/>
        </p:nvSpPr>
        <p:spPr>
          <a:xfrm>
            <a:off x="571500" y="12001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5" name="Google Shape;145;p16" title="b5b1025d8e06b825e0792ef90de42c1c.png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7479488" y="3514725"/>
            <a:ext cx="3305175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2538412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FFFFF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rPr>
              <a:t>Network Specification</a:t>
            </a:r>
          </a:p>
        </p:txBody>
      </p:sp>
      <p:sp>
        <p:nvSpPr>
          <p:cNvPr id="152" name="Google Shape;152;p17"/>
          <p:cNvSpPr txBox="1"/>
          <p:nvPr/>
        </p:nvSpPr>
        <p:spPr>
          <a:xfrm>
            <a:off x="6381750" y="2717601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FFFFF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rPr>
              <a:t>Objective Function: Huber Loss</a:t>
            </a:r>
          </a:p>
        </p:txBody>
      </p:sp>
      <p:sp>
        <p:nvSpPr>
          <p:cNvPr id="153" name="Google Shape;153;p17"/>
          <p:cNvSpPr txBox="1"/>
          <p:nvPr/>
        </p:nvSpPr>
        <p:spPr>
          <a:xfrm>
            <a:off x="6381750" y="3146226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Robust to "fat-tailed" financial noise:</a:t>
            </a:r>
          </a:p>
        </p:txBody>
      </p:sp>
      <p:sp>
        <p:nvSpPr>
          <p:cNvPr id="154" name="Google Shape;154;p17"/>
          <p:cNvSpPr txBox="1"/>
          <p:nvPr>
            <p:custDataLst>
              <p:tags r:id="rId1"/>
            </p:custDataLst>
          </p:nvPr>
        </p:nvSpPr>
        <p:spPr>
          <a:xfrm>
            <a:off x="657225" y="29289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55" name="Google Shape;155;p17"/>
          <p:cNvSpPr txBox="1"/>
          <p:nvPr>
            <p:custDataLst>
              <p:tags r:id="rId2"/>
            </p:custDataLst>
          </p:nvPr>
        </p:nvSpPr>
        <p:spPr>
          <a:xfrm>
            <a:off x="762000" y="2814637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Input: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Sequence tensor (B, L, F)</a:t>
            </a:r>
            <a:r>
              <a:rPr lang="en-US" sz="15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,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where B is batch size(512), L </a:t>
            </a:r>
            <a:r>
              <a:rPr lang="en-US" sz="15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is lookback window(6, 12, 24), F is the number of features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.</a:t>
            </a:r>
          </a:p>
        </p:txBody>
      </p:sp>
      <p:sp>
        <p:nvSpPr>
          <p:cNvPr id="156" name="Google Shape;156;p17"/>
          <p:cNvSpPr txBox="1"/>
          <p:nvPr>
            <p:custDataLst>
              <p:tags r:id="rId3"/>
            </p:custDataLst>
          </p:nvPr>
        </p:nvSpPr>
        <p:spPr>
          <a:xfrm>
            <a:off x="657263" y="405070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57" name="Google Shape;157;p17"/>
          <p:cNvSpPr txBox="1"/>
          <p:nvPr>
            <p:custDataLst>
              <p:tags r:id="rId4"/>
            </p:custDataLst>
          </p:nvPr>
        </p:nvSpPr>
        <p:spPr>
          <a:xfrm>
            <a:off x="762000" y="3952705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Layers: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2 stacked LSTM layers (32 units) with 0.1 Dropout.</a:t>
            </a:r>
          </a:p>
        </p:txBody>
      </p:sp>
      <p:sp>
        <p:nvSpPr>
          <p:cNvPr id="158" name="Google Shape;158;p17"/>
          <p:cNvSpPr txBox="1"/>
          <p:nvPr>
            <p:custDataLst>
              <p:tags r:id="rId5"/>
            </p:custDataLst>
          </p:nvPr>
        </p:nvSpPr>
        <p:spPr>
          <a:xfrm>
            <a:off x="657238" y="484466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59" name="Google Shape;159;p17"/>
          <p:cNvSpPr txBox="1"/>
          <p:nvPr>
            <p:custDataLst>
              <p:tags r:id="rId6"/>
            </p:custDataLst>
          </p:nvPr>
        </p:nvSpPr>
        <p:spPr>
          <a:xfrm>
            <a:off x="762000" y="474784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Head: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MLP with Layer Normalization and ReLU.</a:t>
            </a:r>
          </a:p>
        </p:txBody>
      </p:sp>
      <p:sp>
        <p:nvSpPr>
          <p:cNvPr id="160" name="Google Shape;160;p17"/>
          <p:cNvSpPr txBox="1"/>
          <p:nvPr>
            <p:custDataLst>
              <p:tags r:id="rId7"/>
            </p:custDataLst>
          </p:nvPr>
        </p:nvSpPr>
        <p:spPr>
          <a:xfrm>
            <a:off x="657238" y="5329237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61" name="Google Shape;161;p17"/>
          <p:cNvSpPr txBox="1"/>
          <p:nvPr>
            <p:custDataLst>
              <p:tags r:id="rId8"/>
            </p:custDataLst>
          </p:nvPr>
        </p:nvSpPr>
        <p:spPr>
          <a:xfrm>
            <a:off x="762000" y="5229952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Optimizer: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AdamW (L</a:t>
            </a:r>
            <a:r>
              <a:rPr lang="en-US" sz="15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earning Rate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5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10^(-3)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, weight </a:t>
            </a:r>
            <a:r>
              <a:rPr lang="en-US" sz="15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ecay 10^</a:t>
            </a:r>
            <a:r>
              <a:rPr lang="en-US" sz="15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(-4)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).</a:t>
            </a:r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60A5F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Model Architecture: LSTM</a:t>
            </a:r>
          </a:p>
        </p:txBody>
      </p:sp>
      <p:sp>
        <p:nvSpPr>
          <p:cNvPr id="163" name="Google Shape;163;p17"/>
          <p:cNvSpPr/>
          <p:nvPr/>
        </p:nvSpPr>
        <p:spPr>
          <a:xfrm>
            <a:off x="571500" y="12001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4" name="Google Shape;164;p17" title="bdddb1e16f8ef59aaf0049690ec5f095.png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6738075" y="3767725"/>
            <a:ext cx="4526112" cy="9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657225" y="220070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71" name="Google Shape;171;p18"/>
          <p:cNvSpPr txBox="1"/>
          <p:nvPr/>
        </p:nvSpPr>
        <p:spPr>
          <a:xfrm>
            <a:off x="762000" y="2095925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Model Type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5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Ridge Regression (linear baseline)</a:t>
            </a:r>
          </a:p>
        </p:txBody>
      </p:sp>
      <p:sp>
        <p:nvSpPr>
          <p:cNvPr id="172" name="Google Shape;172;p18"/>
          <p:cNvSpPr txBox="1"/>
          <p:nvPr/>
        </p:nvSpPr>
        <p:spPr>
          <a:xfrm>
            <a:off x="657225" y="282870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73" name="Google Shape;173;p18"/>
          <p:cNvSpPr txBox="1"/>
          <p:nvPr/>
        </p:nvSpPr>
        <p:spPr>
          <a:xfrm>
            <a:off x="762000" y="2747420"/>
            <a:ext cx="8857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Input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5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Historical window flattened into a single static vector of size (L⋅F)</a:t>
            </a:r>
          </a:p>
        </p:txBody>
      </p:sp>
      <p:sp>
        <p:nvSpPr>
          <p:cNvPr id="174" name="Google Shape;174;p18"/>
          <p:cNvSpPr txBox="1"/>
          <p:nvPr/>
        </p:nvSpPr>
        <p:spPr>
          <a:xfrm>
            <a:off x="657225" y="345670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175" name="Google Shape;175;p18"/>
          <p:cNvSpPr txBox="1"/>
          <p:nvPr/>
        </p:nvSpPr>
        <p:spPr>
          <a:xfrm>
            <a:off x="762000" y="3366530"/>
            <a:ext cx="916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Usage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5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Measures how much predictive value comes purely from non-linear + sequential modeling</a:t>
            </a:r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US" sz="3150" b="1">
                <a:solidFill>
                  <a:srgbClr val="60A5F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Model Architecture: Linear Benchmark</a:t>
            </a:r>
          </a:p>
        </p:txBody>
      </p:sp>
      <p:sp>
        <p:nvSpPr>
          <p:cNvPr id="177" name="Google Shape;177;p18"/>
          <p:cNvSpPr/>
          <p:nvPr/>
        </p:nvSpPr>
        <p:spPr>
          <a:xfrm>
            <a:off x="571500" y="1200150"/>
            <a:ext cx="11049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" name="Google Shape;183;p19"/>
          <p:cNvGraphicFramePr/>
          <p:nvPr/>
        </p:nvGraphicFramePr>
        <p:xfrm>
          <a:off x="581025" y="1796849"/>
          <a:ext cx="11029950" cy="4770850"/>
        </p:xfrm>
        <a:graphic>
          <a:graphicData uri="http://schemas.openxmlformats.org/drawingml/2006/table">
            <a:tbl>
              <a:tblPr firstRow="1" bandRow="1">
                <a:noFill/>
                <a:tableStyleId>{71624393-989E-4A8E-90BE-16FDAC524BE5}</a:tableStyleId>
              </a:tblPr>
              <a:tblGrid>
                <a:gridCol w="177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Lookback (L)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MSE (Lower is Better)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Hit Rate (Higher is Better)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Signal Stability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LSTM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24 Months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0.0</a:t>
                      </a: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276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48.9%</a:t>
                      </a:r>
                      <a:endParaRPr sz="1500">
                        <a:solidFill>
                          <a:srgbClr val="CBD5E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LSTM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12 Months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0.03</a:t>
                      </a: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93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48.</a:t>
                      </a: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5</a:t>
                      </a: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%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LSTM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6 Months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0.0</a:t>
                      </a: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303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49.9%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Linear (Ridge)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24 Months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0.0324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49.1%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Linear (Ridge)</a:t>
                      </a:r>
                      <a:endParaRPr sz="1500" b="0" i="0" u="none" strike="noStrike" cap="none">
                        <a:solidFill>
                          <a:srgbClr val="CBD5E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12 Months</a:t>
                      </a:r>
                      <a:endParaRPr sz="1500" b="0" i="0" u="none" strike="noStrike" cap="none">
                        <a:solidFill>
                          <a:srgbClr val="CBD5E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0.0328</a:t>
                      </a:r>
                      <a:endParaRPr sz="1500" b="0" i="0" u="none" strike="noStrike" cap="none">
                        <a:solidFill>
                          <a:srgbClr val="CBD5E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48.2%</a:t>
                      </a:r>
                      <a:endParaRPr sz="1500" b="0" i="0" u="none" strike="noStrike" cap="none">
                        <a:solidFill>
                          <a:srgbClr val="CBD5E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Medium</a:t>
                      </a:r>
                      <a:endParaRPr sz="1500" b="0" i="0" u="none" strike="noStrike" cap="none">
                        <a:solidFill>
                          <a:srgbClr val="CBD5E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1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Linear (Ridge)</a:t>
                      </a:r>
                      <a:endParaRPr sz="1500" b="0" i="0" u="none" strike="noStrike" cap="none">
                        <a:solidFill>
                          <a:srgbClr val="CBD5E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6 Months</a:t>
                      </a:r>
                      <a:endParaRPr sz="1500" b="0" i="0" u="none" strike="noStrike" cap="none">
                        <a:solidFill>
                          <a:srgbClr val="CBD5E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0.0295</a:t>
                      </a:r>
                      <a:endParaRPr sz="1500" b="0" i="0" u="none" strike="noStrike" cap="none">
                        <a:solidFill>
                          <a:srgbClr val="CBD5E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48.6%</a:t>
                      </a:r>
                      <a:endParaRPr sz="1500" b="0" i="0" u="none" strike="noStrike" cap="none">
                        <a:solidFill>
                          <a:srgbClr val="CBD5E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Medium</a:t>
                      </a:r>
                      <a:endParaRPr sz="1500" b="0" i="0" u="none" strike="noStrike" cap="none">
                        <a:solidFill>
                          <a:srgbClr val="CBD5E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4" name="Google Shape;184;p19"/>
          <p:cNvSpPr/>
          <p:nvPr/>
        </p:nvSpPr>
        <p:spPr>
          <a:xfrm>
            <a:off x="590525" y="2488675"/>
            <a:ext cx="1776600" cy="19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2367086" y="2488687"/>
            <a:ext cx="1722000" cy="19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4089027" y="2488687"/>
            <a:ext cx="2615700" cy="19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6704732" y="2488687"/>
            <a:ext cx="3018900" cy="19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9723635" y="2488687"/>
            <a:ext cx="1896900" cy="19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704707" y="4067175"/>
            <a:ext cx="30189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90550" y="5267325"/>
            <a:ext cx="17765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2367111" y="5267325"/>
            <a:ext cx="17219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4089052" y="5267325"/>
            <a:ext cx="26156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704707" y="5267325"/>
            <a:ext cx="30189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9723685" y="5267325"/>
            <a:ext cx="189681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590550" y="5867400"/>
            <a:ext cx="17765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2367111" y="5867400"/>
            <a:ext cx="17219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089052" y="5867400"/>
            <a:ext cx="26156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704707" y="5867400"/>
            <a:ext cx="30189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9723685" y="5867400"/>
            <a:ext cx="189681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60A5F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Predictive Performance (Out-of-Sample)</a:t>
            </a:r>
          </a:p>
        </p:txBody>
      </p:sp>
      <p:sp>
        <p:nvSpPr>
          <p:cNvPr id="201" name="Google Shape;201;p19"/>
          <p:cNvSpPr/>
          <p:nvPr/>
        </p:nvSpPr>
        <p:spPr>
          <a:xfrm>
            <a:off x="571500" y="12001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1590675"/>
            <a:ext cx="3492549" cy="46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49799" y="1590675"/>
            <a:ext cx="3492549" cy="46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128099" y="1590675"/>
            <a:ext cx="3492549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694212" y="4076700"/>
            <a:ext cx="324712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60A5FA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rPr>
              <a:t>L=6: Noisy Short-Horizon Signals</a:t>
            </a:r>
          </a:p>
        </p:txBody>
      </p:sp>
      <p:sp>
        <p:nvSpPr>
          <p:cNvPr id="211" name="Google Shape;211;p20"/>
          <p:cNvSpPr txBox="1"/>
          <p:nvPr/>
        </p:nvSpPr>
        <p:spPr>
          <a:xfrm>
            <a:off x="571500" y="4476750"/>
            <a:ext cx="3492600" cy="1895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100" dirty="0">
                <a:solidFill>
                  <a:srgbClr val="CBD5E1"/>
                </a:solidFill>
              </a:rPr>
              <a:t>The 6-month LSTM produced unstable short-horizon signals that led to a </a:t>
            </a:r>
            <a:r>
              <a:rPr lang="en-US" sz="1100" b="1" dirty="0">
                <a:solidFill>
                  <a:srgbClr val="CBD5E1"/>
                </a:solidFill>
              </a:rPr>
              <a:t>–</a:t>
            </a:r>
            <a:r>
              <a:rPr lang="en-US" altLang="zh-CN" sz="1100" b="1" dirty="0">
                <a:solidFill>
                  <a:srgbClr val="CBD5E1"/>
                </a:solidFill>
              </a:rPr>
              <a:t>17.5</a:t>
            </a:r>
            <a:r>
              <a:rPr lang="en-US" sz="1100" b="1" dirty="0">
                <a:solidFill>
                  <a:srgbClr val="CBD5E1"/>
                </a:solidFill>
              </a:rPr>
              <a:t>% Net Annualized Return</a:t>
            </a:r>
            <a:r>
              <a:rPr lang="en-US" sz="1100" dirty="0">
                <a:solidFill>
                  <a:srgbClr val="CBD5E1"/>
                </a:solidFill>
              </a:rPr>
              <a:t> and a </a:t>
            </a:r>
            <a:r>
              <a:rPr lang="en-US" sz="1100" b="1" dirty="0">
                <a:solidFill>
                  <a:srgbClr val="CBD5E1"/>
                </a:solidFill>
              </a:rPr>
              <a:t>–46.7% drawdown</a:t>
            </a:r>
            <a:r>
              <a:rPr lang="en-US" sz="1100" dirty="0">
                <a:solidFill>
                  <a:srgbClr val="CBD5E1"/>
                </a:solidFill>
              </a:rPr>
              <a:t>, as constant rebalancing into small-cap stocks created severe bid–ask losses.</a:t>
            </a:r>
            <a:endParaRPr sz="1100" dirty="0">
              <a:solidFill>
                <a:srgbClr val="CBD5E1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CBD5E1"/>
                </a:solidFill>
              </a:rPr>
              <a:t>The Linear model showed slightly smoother behavior but still delivered a </a:t>
            </a:r>
            <a:r>
              <a:rPr lang="en-US" sz="1100" b="1" dirty="0">
                <a:solidFill>
                  <a:srgbClr val="CBD5E1"/>
                </a:solidFill>
              </a:rPr>
              <a:t>–14.0% Net Return</a:t>
            </a:r>
            <a:r>
              <a:rPr lang="en-US" sz="1100" dirty="0">
                <a:solidFill>
                  <a:srgbClr val="CBD5E1"/>
                </a:solidFill>
              </a:rPr>
              <a:t>, confirming that under equal weighting, </a:t>
            </a:r>
            <a:r>
              <a:rPr lang="en-US" sz="1100" b="1" dirty="0">
                <a:solidFill>
                  <a:srgbClr val="CBD5E1"/>
                </a:solidFill>
              </a:rPr>
              <a:t>transaction costs dominate both models</a:t>
            </a:r>
            <a:r>
              <a:rPr lang="en-US" sz="1100" dirty="0">
                <a:solidFill>
                  <a:srgbClr val="CBD5E1"/>
                </a:solidFill>
              </a:rPr>
              <a:t>.</a:t>
            </a:r>
            <a:endParaRPr sz="1125" dirty="0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472512" y="4076700"/>
            <a:ext cx="324712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rPr>
              <a:t>L=12: The Cost Trap</a:t>
            </a:r>
          </a:p>
        </p:txBody>
      </p:sp>
      <p:sp>
        <p:nvSpPr>
          <p:cNvPr id="213" name="Google Shape;213;p20"/>
          <p:cNvSpPr txBox="1"/>
          <p:nvPr/>
        </p:nvSpPr>
        <p:spPr>
          <a:xfrm>
            <a:off x="4349800" y="4476750"/>
            <a:ext cx="34473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100" dirty="0">
                <a:solidFill>
                  <a:srgbClr val="CBD5E1"/>
                </a:solidFill>
              </a:rPr>
              <a:t>Extending the window to 12 months improved stability but not profitability.</a:t>
            </a:r>
            <a:endParaRPr sz="1100" dirty="0">
              <a:solidFill>
                <a:srgbClr val="CBD5E1"/>
              </a:solidFill>
            </a:endParaRPr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100" dirty="0">
                <a:solidFill>
                  <a:srgbClr val="CBD5E1"/>
                </a:solidFill>
              </a:rPr>
              <a:t>The LSTM achieved </a:t>
            </a:r>
            <a:r>
              <a:rPr lang="en-US" sz="1100" b="1" dirty="0">
                <a:solidFill>
                  <a:srgbClr val="CBD5E1"/>
                </a:solidFill>
              </a:rPr>
              <a:t>–0.9% Gross</a:t>
            </a:r>
            <a:r>
              <a:rPr lang="en-US" sz="1100" dirty="0">
                <a:solidFill>
                  <a:srgbClr val="CBD5E1"/>
                </a:solidFill>
              </a:rPr>
              <a:t> yet </a:t>
            </a:r>
            <a:r>
              <a:rPr lang="en-US" sz="1100" b="1" dirty="0">
                <a:solidFill>
                  <a:srgbClr val="CBD5E1"/>
                </a:solidFill>
              </a:rPr>
              <a:t>–14.6% Net Return</a:t>
            </a:r>
            <a:r>
              <a:rPr lang="en-US" sz="1100" dirty="0">
                <a:solidFill>
                  <a:srgbClr val="CBD5E1"/>
                </a:solidFill>
              </a:rPr>
              <a:t>, revealing that EW’s heavy turnover into illiquid names overwhelms any signal improvement.</a:t>
            </a:r>
            <a:endParaRPr sz="1100" dirty="0">
              <a:solidFill>
                <a:srgbClr val="CBD5E1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CBD5E1"/>
                </a:solidFill>
              </a:rPr>
              <a:t>The Linear model performed worst, with a </a:t>
            </a:r>
            <a:r>
              <a:rPr lang="en-US" sz="1100" b="1" dirty="0">
                <a:solidFill>
                  <a:srgbClr val="CBD5E1"/>
                </a:solidFill>
              </a:rPr>
              <a:t>–17.4% Net Return</a:t>
            </a:r>
            <a:r>
              <a:rPr lang="en-US" sz="1100" dirty="0">
                <a:solidFill>
                  <a:srgbClr val="CBD5E1"/>
                </a:solidFill>
              </a:rPr>
              <a:t> and the lowest Sharpe, showing </a:t>
            </a:r>
            <a:r>
              <a:rPr lang="en-US" sz="1100" b="1" dirty="0">
                <a:solidFill>
                  <a:srgbClr val="CBD5E1"/>
                </a:solidFill>
              </a:rPr>
              <a:t>linear signals cannot offset EW’s structural cost burden</a:t>
            </a:r>
            <a:r>
              <a:rPr lang="en-US" sz="1100" dirty="0">
                <a:solidFill>
                  <a:srgbClr val="CBD5E1"/>
                </a:solidFill>
              </a:rPr>
              <a:t>.</a:t>
            </a:r>
            <a:endParaRPr sz="1125" dirty="0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8250811" y="4076700"/>
            <a:ext cx="3247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rPr>
              <a:t>L=24: Structural Cost Failure</a:t>
            </a:r>
          </a:p>
        </p:txBody>
      </p:sp>
      <p:sp>
        <p:nvSpPr>
          <p:cNvPr id="215" name="Google Shape;215;p20"/>
          <p:cNvSpPr txBox="1"/>
          <p:nvPr/>
        </p:nvSpPr>
        <p:spPr>
          <a:xfrm>
            <a:off x="8128100" y="4476750"/>
            <a:ext cx="3492600" cy="15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100" dirty="0">
                <a:solidFill>
                  <a:srgbClr val="CBD5E1"/>
                </a:solidFill>
              </a:rPr>
              <a:t>The 24-month LSTM generated </a:t>
            </a:r>
            <a:r>
              <a:rPr lang="en-US" sz="1100" b="1" dirty="0">
                <a:solidFill>
                  <a:srgbClr val="CBD5E1"/>
                </a:solidFill>
              </a:rPr>
              <a:t>0.6% Gross Return</a:t>
            </a:r>
            <a:r>
              <a:rPr lang="en-US" sz="1100" dirty="0">
                <a:solidFill>
                  <a:srgbClr val="CBD5E1"/>
                </a:solidFill>
              </a:rPr>
              <a:t>, but costs pushed Net to </a:t>
            </a:r>
            <a:r>
              <a:rPr lang="en-US" sz="1100" b="1" dirty="0">
                <a:solidFill>
                  <a:srgbClr val="CBD5E1"/>
                </a:solidFill>
              </a:rPr>
              <a:t>–12.7%</a:t>
            </a:r>
            <a:r>
              <a:rPr lang="en-US" sz="1100" dirty="0">
                <a:solidFill>
                  <a:srgbClr val="CBD5E1"/>
                </a:solidFill>
              </a:rPr>
              <a:t>, showing that EW’s wide small-cap exposure makes long-horizon nonlinear signals impractical to trade.</a:t>
            </a:r>
            <a:endParaRPr sz="1100" dirty="0">
              <a:solidFill>
                <a:srgbClr val="CBD5E1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CBD5E1"/>
                </a:solidFill>
              </a:rPr>
              <a:t>The Linear model fared no better (</a:t>
            </a:r>
            <a:r>
              <a:rPr lang="en-US" sz="1100" b="1" dirty="0">
                <a:solidFill>
                  <a:srgbClr val="CBD5E1"/>
                </a:solidFill>
              </a:rPr>
              <a:t>–12.8% Net</a:t>
            </a:r>
            <a:r>
              <a:rPr lang="en-US" sz="1100" dirty="0">
                <a:solidFill>
                  <a:srgbClr val="CBD5E1"/>
                </a:solidFill>
              </a:rPr>
              <a:t>), lacking the nonlinear structure needed for effective stock selection under high-cost conditions.</a:t>
            </a:r>
            <a:endParaRPr sz="1125" dirty="0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60A5F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Equal-Weighted Strategy Performance</a:t>
            </a:r>
          </a:p>
        </p:txBody>
      </p:sp>
      <p:sp>
        <p:nvSpPr>
          <p:cNvPr id="217" name="Google Shape;217;p20"/>
          <p:cNvSpPr/>
          <p:nvPr/>
        </p:nvSpPr>
        <p:spPr>
          <a:xfrm>
            <a:off x="571500" y="12001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18" name="Google Shape;218;p2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571500" y="1667700"/>
            <a:ext cx="3492551" cy="220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4349800" y="1667700"/>
            <a:ext cx="3492551" cy="220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8128100" y="1667700"/>
            <a:ext cx="3492551" cy="22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-1203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1590675"/>
            <a:ext cx="3492549" cy="46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49799" y="1590675"/>
            <a:ext cx="3492549" cy="46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128099" y="1590675"/>
            <a:ext cx="3492549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694212" y="4076700"/>
            <a:ext cx="324712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rPr>
              <a:t>L=6: Low Active Return</a:t>
            </a:r>
          </a:p>
        </p:txBody>
      </p:sp>
      <p:sp>
        <p:nvSpPr>
          <p:cNvPr id="230" name="Google Shape;230;p21"/>
          <p:cNvSpPr txBox="1"/>
          <p:nvPr/>
        </p:nvSpPr>
        <p:spPr>
          <a:xfrm>
            <a:off x="571500" y="4476750"/>
            <a:ext cx="3492600" cy="17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 b="1" dirty="0">
                <a:solidFill>
                  <a:srgbClr val="CBD5E1"/>
                </a:solidFill>
              </a:rPr>
              <a:t>Market-cap weighting reduces drawdowns and limits trading costs, but the 6-month LSTM produces only mild alpha.</a:t>
            </a:r>
            <a:br>
              <a:rPr lang="en-US" sz="1100" b="1" dirty="0">
                <a:solidFill>
                  <a:srgbClr val="CBD5E1"/>
                </a:solidFill>
              </a:rPr>
            </a:br>
            <a:r>
              <a:rPr lang="en-US" sz="1100" b="1" dirty="0">
                <a:solidFill>
                  <a:srgbClr val="CBD5E1"/>
                </a:solidFill>
              </a:rPr>
              <a:t> Gross return reaches 9.9%, yet Net performance falls to 2.3%, showing that short-horizon signals remain too noisy in large-cap markets.</a:t>
            </a:r>
            <a:br>
              <a:rPr lang="en-US" sz="1100" b="1" dirty="0">
                <a:solidFill>
                  <a:srgbClr val="CBD5E1"/>
                </a:solidFill>
              </a:rPr>
            </a:br>
            <a:r>
              <a:rPr lang="en-US" sz="1100" b="1" dirty="0">
                <a:solidFill>
                  <a:srgbClr val="CBD5E1"/>
                </a:solidFill>
              </a:rPr>
              <a:t> The Linear model performs similarly weakly, with –1.5% Net Return, behaving more like a broad-market beta than an alpha strategy.</a:t>
            </a:r>
            <a:endParaRPr sz="1125" b="1" dirty="0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472512" y="4076700"/>
            <a:ext cx="3247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rPr>
              <a:t>L=12: Peak Performance Window</a:t>
            </a:r>
          </a:p>
        </p:txBody>
      </p:sp>
      <p:sp>
        <p:nvSpPr>
          <p:cNvPr id="232" name="Google Shape;232;p21"/>
          <p:cNvSpPr txBox="1"/>
          <p:nvPr/>
        </p:nvSpPr>
        <p:spPr>
          <a:xfrm>
            <a:off x="4349800" y="4476750"/>
            <a:ext cx="3492600" cy="17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 b="1">
                <a:solidFill>
                  <a:srgbClr val="CBD5E1"/>
                </a:solidFill>
              </a:rPr>
              <a:t>The 12-month window delivers the strongest overall performance.</a:t>
            </a:r>
            <a:br>
              <a:rPr lang="en-US" sz="1100" b="1">
                <a:solidFill>
                  <a:srgbClr val="CBD5E1"/>
                </a:solidFill>
              </a:rPr>
            </a:br>
            <a:r>
              <a:rPr lang="en-US" sz="1100" b="1">
                <a:solidFill>
                  <a:srgbClr val="CBD5E1"/>
                </a:solidFill>
              </a:rPr>
              <a:t> The LSTM earns 21.6% Gross and 13.4% Net annualized return with a 0.73 Sharpe, effectively balancing trend capture and noise control. Moderate drawdowns further confirm L=12 as the most stable configuration. The Linear model improves but still lags, generating only 3.9% Net with limited ability to identify winners in an efficient large-cap market.</a:t>
            </a:r>
            <a:endParaRPr sz="1100">
              <a:solidFill>
                <a:srgbClr val="CBD5E1"/>
              </a:solidFill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8250811" y="4076700"/>
            <a:ext cx="324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rPr>
              <a:t>L=24: </a:t>
            </a:r>
            <a:r>
              <a:rPr lang="en-US" sz="1500" b="1">
                <a:solidFill>
                  <a:srgbClr val="60A5FA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rPr>
              <a:t>Signal Dilution from Long Horizons</a:t>
            </a:r>
          </a:p>
        </p:txBody>
      </p:sp>
      <p:sp>
        <p:nvSpPr>
          <p:cNvPr id="234" name="Google Shape;234;p21"/>
          <p:cNvSpPr txBox="1"/>
          <p:nvPr/>
        </p:nvSpPr>
        <p:spPr>
          <a:xfrm>
            <a:off x="8128100" y="4476750"/>
            <a:ext cx="34926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100" b="1">
                <a:solidFill>
                  <a:srgbClr val="CBD5E1"/>
                </a:solidFill>
              </a:rPr>
              <a:t>The LSTM generates 6.8% Gross but only –0.2% Net, indicating that long windows over-smooth important short-horizon nonlinear signals. Despite low trading costs under MCW, predictive strength weakens, producing stable but muted alpha.</a:t>
            </a:r>
            <a:endParaRPr sz="1100" b="1">
              <a:solidFill>
                <a:srgbClr val="CBD5E1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CBD5E1"/>
                </a:solidFill>
              </a:rPr>
              <a:t>The Linear model deteriorates further (–8.0% Net, Sharpe –0.51), unable to extract meaningful patterns from diluted long-horizon features.</a:t>
            </a:r>
            <a:endParaRPr sz="1125" b="1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60A5F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Market-Cap-Weighted Strategy Performance</a:t>
            </a:r>
          </a:p>
        </p:txBody>
      </p:sp>
      <p:sp>
        <p:nvSpPr>
          <p:cNvPr id="236" name="Google Shape;236;p21"/>
          <p:cNvSpPr/>
          <p:nvPr/>
        </p:nvSpPr>
        <p:spPr>
          <a:xfrm>
            <a:off x="571500" y="12001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37" name="Google Shape;237;p2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571500" y="1667700"/>
            <a:ext cx="3492551" cy="220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4349800" y="1667700"/>
            <a:ext cx="3492551" cy="220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8128100" y="1667700"/>
            <a:ext cx="3492551" cy="22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5" name="Google Shape;245;p22"/>
          <p:cNvGraphicFramePr/>
          <p:nvPr/>
        </p:nvGraphicFramePr>
        <p:xfrm>
          <a:off x="590550" y="1927875"/>
          <a:ext cx="11029948" cy="3606150"/>
        </p:xfrm>
        <a:graphic>
          <a:graphicData uri="http://schemas.openxmlformats.org/drawingml/2006/table">
            <a:tbl>
              <a:tblPr firstRow="1" bandRow="1">
                <a:noFill/>
                <a:tableStyleId>{71624393-989E-4A8E-90BE-16FDAC524BE5}</a:tableStyleId>
              </a:tblPr>
              <a:tblGrid>
                <a:gridCol w="1629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7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91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91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181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Weighting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Gross Ann. Ret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Net Ann. Ret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Sharpe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Sortino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Max Drawdown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LSTM (12M)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MCW</a:t>
                      </a:r>
                      <a:endParaRPr lang="zh-CN" altLang="en-US" sz="1500" b="1" i="0" u="none" strike="noStrike" cap="none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21.6%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altLang="zh-CN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13.4%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altLang="zh-CN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0.732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altLang="zh-CN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宋体" panose="02010600030101010101" pitchFamily="2" charset="-122"/>
                          <a:cs typeface="宋体" panose="02010600030101010101" pitchFamily="2" charset="-122"/>
                          <a:sym typeface="Arial" panose="020B0604020202020204"/>
                        </a:rPr>
                        <a:t>1.029</a:t>
                      </a: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-17.5%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Linear (12M)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MCW</a:t>
                      </a:r>
                      <a:endParaRPr lang="zh-CN" altLang="en-US" sz="1500" b="1" i="0" u="none" strike="noStrike" cap="none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11.7%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3.9%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0.282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altLang="zh-CN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宋体" panose="02010600030101010101" pitchFamily="2" charset="-122"/>
                          <a:cs typeface="宋体" panose="02010600030101010101" pitchFamily="2" charset="-122"/>
                          <a:sym typeface="Arial" panose="020B0604020202020204"/>
                        </a:rPr>
                        <a:t>0.339</a:t>
                      </a: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-27.6%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LSTM (6M)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MCW</a:t>
                      </a:r>
                      <a:endParaRPr lang="zh-CN" altLang="en-US" sz="1500" b="1" i="0" u="none" strike="noStrike" cap="none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9.9%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2.3%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0.210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altLang="zh-CN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宋体" panose="02010600030101010101" pitchFamily="2" charset="-122"/>
                          <a:cs typeface="宋体" panose="02010600030101010101" pitchFamily="2" charset="-122"/>
                          <a:sym typeface="Arial" panose="020B0604020202020204"/>
                        </a:rPr>
                        <a:t>0.234</a:t>
                      </a: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-27.9%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31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LSTM (24M)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MCW</a:t>
                      </a:r>
                      <a:endParaRPr lang="zh-CN" altLang="en-US" sz="1500" b="1" i="0" u="none" strike="noStrike" cap="none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6.8%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-0.2%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altLang="zh-CN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0.108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altLang="zh-CN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宋体" panose="02010600030101010101" pitchFamily="2" charset="-122"/>
                          <a:cs typeface="宋体" panose="02010600030101010101" pitchFamily="2" charset="-122"/>
                          <a:sym typeface="Arial" panose="020B0604020202020204"/>
                        </a:rPr>
                        <a:t>0.123</a:t>
                      </a: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-22.3%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Linear (6M)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MCW</a:t>
                      </a:r>
                      <a:endParaRPr lang="zh-CN" altLang="en-US" sz="1500" b="1" i="0" u="none" strike="noStrike" cap="none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5.3%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-1.5%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altLang="zh-CN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0.032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altLang="zh-CN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宋体" panose="02010600030101010101" pitchFamily="2" charset="-122"/>
                          <a:cs typeface="宋体" panose="02010600030101010101" pitchFamily="2" charset="-122"/>
                          <a:sym typeface="Arial" panose="020B0604020202020204"/>
                        </a:rPr>
                        <a:t>0.033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Inter" panose="02000503000000020004"/>
                          <a:ea typeface="Inter" panose="02000503000000020004"/>
                          <a:cs typeface="宋体" panose="02010600030101010101" pitchFamily="2" charset="-122"/>
                          <a:sym typeface="Arial" panose="020B0604020202020204"/>
                        </a:rPr>
                        <a:t>-21.5%</a:t>
                      </a:r>
                      <a:endParaRPr lang="zh-CN" altLang="en-US" sz="1500" b="1" i="0" u="none" strike="noStrike" cap="none" dirty="0">
                        <a:solidFill>
                          <a:srgbClr val="FFFFFF"/>
                        </a:solidFill>
                        <a:latin typeface="Inter" panose="02000503000000020004"/>
                        <a:ea typeface="宋体" panose="02010600030101010101" pitchFamily="2" charset="-122"/>
                        <a:cs typeface="宋体" panose="02010600030101010101" pitchFamily="2" charset="-122"/>
                        <a:sym typeface="Arial" panose="020B0604020202020204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6" name="Google Shape;246;p22"/>
          <p:cNvSpPr/>
          <p:nvPr/>
        </p:nvSpPr>
        <p:spPr>
          <a:xfrm>
            <a:off x="590550" y="3109912"/>
            <a:ext cx="1826418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2416968" y="3109912"/>
            <a:ext cx="1529953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3946921" y="3109912"/>
            <a:ext cx="2063650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6010572" y="3109912"/>
            <a:ext cx="1790848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7801421" y="3109912"/>
            <a:ext cx="1648420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9449841" y="3109912"/>
            <a:ext cx="2170658" cy="190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90550" y="3724275"/>
            <a:ext cx="18264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2416968" y="3724275"/>
            <a:ext cx="15299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946921" y="3724275"/>
            <a:ext cx="2063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010572" y="3724275"/>
            <a:ext cx="17908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7801421" y="3724275"/>
            <a:ext cx="16484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9449841" y="3724275"/>
            <a:ext cx="21706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90550" y="4324350"/>
            <a:ext cx="18264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2416968" y="4324350"/>
            <a:ext cx="15299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3946921" y="4324350"/>
            <a:ext cx="2063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6010572" y="4324350"/>
            <a:ext cx="17908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7801421" y="4324350"/>
            <a:ext cx="16484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9449841" y="4324350"/>
            <a:ext cx="21706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590550" y="4924425"/>
            <a:ext cx="18264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2416968" y="4924425"/>
            <a:ext cx="15299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3946921" y="4924425"/>
            <a:ext cx="2063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6010572" y="4924425"/>
            <a:ext cx="17908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7801421" y="4924425"/>
            <a:ext cx="16484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9449841" y="4924425"/>
            <a:ext cx="21706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590550" y="5524500"/>
            <a:ext cx="18264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2416968" y="5524500"/>
            <a:ext cx="15299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3946921" y="5524500"/>
            <a:ext cx="2063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6010572" y="5524500"/>
            <a:ext cx="17908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7801421" y="5524500"/>
            <a:ext cx="16484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9449841" y="5524500"/>
            <a:ext cx="21706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60A5F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Core Performance Metrics (Top 5)</a:t>
            </a:r>
          </a:p>
        </p:txBody>
      </p:sp>
      <p:sp>
        <p:nvSpPr>
          <p:cNvPr id="277" name="Google Shape;277;p22"/>
          <p:cNvSpPr/>
          <p:nvPr/>
        </p:nvSpPr>
        <p:spPr>
          <a:xfrm>
            <a:off x="571500" y="12001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1590675"/>
            <a:ext cx="3492549" cy="46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49799" y="1590675"/>
            <a:ext cx="3492549" cy="46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128099" y="1590675"/>
            <a:ext cx="3492549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3"/>
          <p:cNvSpPr txBox="1"/>
          <p:nvPr/>
        </p:nvSpPr>
        <p:spPr>
          <a:xfrm>
            <a:off x="857250" y="2428875"/>
            <a:ext cx="3067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Best Regime</a:t>
            </a:r>
          </a:p>
        </p:txBody>
      </p:sp>
      <p:sp>
        <p:nvSpPr>
          <p:cNvPr id="287" name="Google Shape;287;p23"/>
          <p:cNvSpPr txBox="1"/>
          <p:nvPr/>
        </p:nvSpPr>
        <p:spPr>
          <a:xfrm>
            <a:off x="857250" y="3000375"/>
            <a:ext cx="2921100" cy="13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Low Vol + Falling Rates: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The LSTM (12M, MCW) delivered its strongest performance here, capitalizing on clear momentum trends and low liquidity costs.</a:t>
            </a:r>
          </a:p>
        </p:txBody>
      </p:sp>
      <p:sp>
        <p:nvSpPr>
          <p:cNvPr id="288" name="Google Shape;288;p23"/>
          <p:cNvSpPr txBox="1"/>
          <p:nvPr/>
        </p:nvSpPr>
        <p:spPr>
          <a:xfrm>
            <a:off x="4635549" y="2428875"/>
            <a:ext cx="3067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Defensive Power</a:t>
            </a:r>
          </a:p>
        </p:txBody>
      </p:sp>
      <p:sp>
        <p:nvSpPr>
          <p:cNvPr id="289" name="Google Shape;289;p23"/>
          <p:cNvSpPr txBox="1"/>
          <p:nvPr/>
        </p:nvSpPr>
        <p:spPr>
          <a:xfrm>
            <a:off x="4635549" y="3000375"/>
            <a:ext cx="2921100" cy="13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High Vol + Rising Rates (2022):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While typical strategies crashed, the MCW LSTM restricted drawdowns to -17.5%, significantly outperforming the -27.6% drawdown of the Linear model.</a:t>
            </a:r>
          </a:p>
        </p:txBody>
      </p:sp>
      <p:sp>
        <p:nvSpPr>
          <p:cNvPr id="290" name="Google Shape;290;p23"/>
          <p:cNvSpPr txBox="1"/>
          <p:nvPr/>
        </p:nvSpPr>
        <p:spPr>
          <a:xfrm>
            <a:off x="8413849" y="2428875"/>
            <a:ext cx="3067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Stabilizer</a:t>
            </a:r>
          </a:p>
        </p:txBody>
      </p:sp>
      <p:sp>
        <p:nvSpPr>
          <p:cNvPr id="291" name="Google Shape;291;p23"/>
          <p:cNvSpPr txBox="1"/>
          <p:nvPr/>
        </p:nvSpPr>
        <p:spPr>
          <a:xfrm>
            <a:off x="8413849" y="3000375"/>
            <a:ext cx="29211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MCW acts as a natural regime stabilizer, dampening shock sensitivity compared to EW portfolios which amplify macro volatility.</a:t>
            </a:r>
          </a:p>
        </p:txBody>
      </p:sp>
      <p:pic>
        <p:nvPicPr>
          <p:cNvPr id="292" name="Google Shape;292;p23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57250" y="194310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3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4635549" y="19431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3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413849" y="194310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60A5F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Regime Robustness</a:t>
            </a:r>
          </a:p>
        </p:txBody>
      </p:sp>
      <p:sp>
        <p:nvSpPr>
          <p:cNvPr id="296" name="Google Shape;296;p23"/>
          <p:cNvSpPr/>
          <p:nvPr/>
        </p:nvSpPr>
        <p:spPr>
          <a:xfrm>
            <a:off x="571500" y="1200150"/>
            <a:ext cx="11049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 txBox="1"/>
          <p:nvPr/>
        </p:nvSpPr>
        <p:spPr>
          <a:xfrm>
            <a:off x="6467475" y="2624137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520125" y="1294263"/>
            <a:ext cx="10871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Feature Importance under Market-Cap Weighting (MCW)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</a:p>
        </p:txBody>
      </p:sp>
      <p:sp>
        <p:nvSpPr>
          <p:cNvPr id="304" name="Google Shape;304;p24"/>
          <p:cNvSpPr txBox="1"/>
          <p:nvPr/>
        </p:nvSpPr>
        <p:spPr>
          <a:xfrm>
            <a:off x="520125" y="4090463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Feature Importance under Equal-Weighting (EW)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</a:p>
        </p:txBody>
      </p:sp>
      <p:sp>
        <p:nvSpPr>
          <p:cNvPr id="305" name="Google Shape;305;p2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60A5F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Interpretability: Feature Importance</a:t>
            </a:r>
          </a:p>
        </p:txBody>
      </p:sp>
      <p:sp>
        <p:nvSpPr>
          <p:cNvPr id="306" name="Google Shape;306;p24"/>
          <p:cNvSpPr/>
          <p:nvPr/>
        </p:nvSpPr>
        <p:spPr>
          <a:xfrm>
            <a:off x="571500" y="12001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07" name="Google Shape;307;p24" title="37c2d789c30ebc190e988bc6147c0315.pn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398738" y="1649088"/>
            <a:ext cx="7114174" cy="233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4" title="9594f14e02d0c5ce0e653bc4708b58d2.pn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398750" y="4425700"/>
            <a:ext cx="7114147" cy="233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5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5"/>
          <p:cNvSpPr txBox="1"/>
          <p:nvPr>
            <p:custDataLst>
              <p:tags r:id="rId1"/>
            </p:custDataLst>
          </p:nvPr>
        </p:nvSpPr>
        <p:spPr>
          <a:xfrm>
            <a:off x="480135" y="2007675"/>
            <a:ext cx="104700" cy="23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315" name="Google Shape;315;p25"/>
          <p:cNvSpPr txBox="1"/>
          <p:nvPr>
            <p:custDataLst>
              <p:tags r:id="rId2"/>
            </p:custDataLst>
          </p:nvPr>
        </p:nvSpPr>
        <p:spPr>
          <a:xfrm>
            <a:off x="584835" y="1930840"/>
            <a:ext cx="94842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Linear model is concentrated, </a:t>
            </a:r>
            <a:r>
              <a:rPr lang="en-US" sz="15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mainly relying on VIX_Z and Y_SHORT_Z</a:t>
            </a:r>
            <a:r>
              <a:rPr lang="en-US" sz="1500" b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.</a:t>
            </a:r>
            <a:endParaRPr>
              <a:solidFill>
                <a:srgbClr val="CBD5E1"/>
              </a:solidFill>
            </a:endParaRPr>
          </a:p>
        </p:txBody>
      </p:sp>
      <p:sp>
        <p:nvSpPr>
          <p:cNvPr id="316" name="Google Shape;316;p25"/>
          <p:cNvSpPr txBox="1"/>
          <p:nvPr>
            <p:custDataLst>
              <p:tags r:id="rId3"/>
            </p:custDataLst>
          </p:nvPr>
        </p:nvSpPr>
        <p:spPr>
          <a:xfrm>
            <a:off x="480135" y="2522150"/>
            <a:ext cx="104700" cy="23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317" name="Google Shape;317;p25"/>
          <p:cNvSpPr txBox="1"/>
          <p:nvPr>
            <p:custDataLst>
              <p:tags r:id="rId4"/>
            </p:custDataLst>
          </p:nvPr>
        </p:nvSpPr>
        <p:spPr>
          <a:xfrm>
            <a:off x="584835" y="2445303"/>
            <a:ext cx="94842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LSTM uses a broader mix of features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50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including returns, momentum, and volatility signals</a:t>
            </a:r>
          </a:p>
        </p:txBody>
      </p:sp>
      <p:sp>
        <p:nvSpPr>
          <p:cNvPr id="318" name="Google Shape;318;p2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60A5F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Interpretability: Feature Importance</a:t>
            </a:r>
          </a:p>
        </p:txBody>
      </p:sp>
      <p:sp>
        <p:nvSpPr>
          <p:cNvPr id="319" name="Google Shape;319;p25"/>
          <p:cNvSpPr/>
          <p:nvPr/>
        </p:nvSpPr>
        <p:spPr>
          <a:xfrm>
            <a:off x="571500" y="1200150"/>
            <a:ext cx="11049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0" name="Google Shape;320;p25"/>
          <p:cNvSpPr txBox="1"/>
          <p:nvPr>
            <p:custDataLst>
              <p:tags r:id="rId5"/>
            </p:custDataLst>
          </p:nvPr>
        </p:nvSpPr>
        <p:spPr>
          <a:xfrm>
            <a:off x="584835" y="2960400"/>
            <a:ext cx="94842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Linear captures narrow risk-sentiment effects, while LSTM reflects multi-factor interactions</a:t>
            </a:r>
            <a:endParaRPr>
              <a:solidFill>
                <a:srgbClr val="CBD5E1"/>
              </a:solidFill>
            </a:endParaRPr>
          </a:p>
        </p:txBody>
      </p:sp>
      <p:sp>
        <p:nvSpPr>
          <p:cNvPr id="321" name="Google Shape;321;p25"/>
          <p:cNvSpPr txBox="1"/>
          <p:nvPr>
            <p:custDataLst>
              <p:tags r:id="rId6"/>
            </p:custDataLst>
          </p:nvPr>
        </p:nvSpPr>
        <p:spPr>
          <a:xfrm>
            <a:off x="571500" y="3453260"/>
            <a:ext cx="94842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This broader signal usage helps explain LSTM’s stronger Sharpe performance.</a:t>
            </a:r>
            <a:endParaRPr>
              <a:solidFill>
                <a:srgbClr val="CBD5E1"/>
              </a:solidFill>
            </a:endParaRPr>
          </a:p>
        </p:txBody>
      </p:sp>
      <p:sp>
        <p:nvSpPr>
          <p:cNvPr id="322" name="Google Shape;322;p25"/>
          <p:cNvSpPr txBox="1"/>
          <p:nvPr>
            <p:custDataLst>
              <p:tags r:id="rId7"/>
            </p:custDataLst>
          </p:nvPr>
        </p:nvSpPr>
        <p:spPr>
          <a:xfrm>
            <a:off x="480135" y="3036612"/>
            <a:ext cx="104700" cy="23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  <p:sp>
        <p:nvSpPr>
          <p:cNvPr id="323" name="Google Shape;323;p25"/>
          <p:cNvSpPr txBox="1"/>
          <p:nvPr>
            <p:custDataLst>
              <p:tags r:id="rId8"/>
            </p:custDataLst>
          </p:nvPr>
        </p:nvSpPr>
        <p:spPr>
          <a:xfrm>
            <a:off x="480135" y="3551062"/>
            <a:ext cx="104700" cy="23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1590675"/>
            <a:ext cx="3492549" cy="46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49799" y="1590675"/>
            <a:ext cx="3492549" cy="46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128099" y="1590675"/>
            <a:ext cx="3492549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6"/>
          <p:cNvSpPr txBox="1"/>
          <p:nvPr/>
        </p:nvSpPr>
        <p:spPr>
          <a:xfrm>
            <a:off x="857250" y="2428875"/>
            <a:ext cx="3067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Winner</a:t>
            </a:r>
          </a:p>
        </p:txBody>
      </p:sp>
      <p:sp>
        <p:nvSpPr>
          <p:cNvPr id="333" name="Google Shape;333;p26"/>
          <p:cNvSpPr txBox="1"/>
          <p:nvPr/>
        </p:nvSpPr>
        <p:spPr>
          <a:xfrm>
            <a:off x="857250" y="3000375"/>
            <a:ext cx="29211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LSTM (12M, MCW)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is the superior configuration (Sharpe 0.73), offering the best balance of signal agility and noise filtering.</a:t>
            </a:r>
          </a:p>
        </p:txBody>
      </p:sp>
      <p:sp>
        <p:nvSpPr>
          <p:cNvPr id="334" name="Google Shape;334;p26"/>
          <p:cNvSpPr txBox="1"/>
          <p:nvPr/>
        </p:nvSpPr>
        <p:spPr>
          <a:xfrm>
            <a:off x="4635549" y="2428875"/>
            <a:ext cx="3067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Loser</a:t>
            </a:r>
          </a:p>
        </p:txBody>
      </p:sp>
      <p:sp>
        <p:nvSpPr>
          <p:cNvPr id="335" name="Google Shape;335;p26"/>
          <p:cNvSpPr txBox="1"/>
          <p:nvPr/>
        </p:nvSpPr>
        <p:spPr>
          <a:xfrm>
            <a:off x="4635549" y="3000375"/>
            <a:ext cx="29211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Equal-Weighting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is not viable. Despite theoretical alpha, the structural cost burden of small-cap trading consistently leads to negative returns.</a:t>
            </a:r>
          </a:p>
        </p:txBody>
      </p:sp>
      <p:sp>
        <p:nvSpPr>
          <p:cNvPr id="336" name="Google Shape;336;p26"/>
          <p:cNvSpPr txBox="1"/>
          <p:nvPr/>
        </p:nvSpPr>
        <p:spPr>
          <a:xfrm>
            <a:off x="8413849" y="2428875"/>
            <a:ext cx="3067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Insight</a:t>
            </a:r>
          </a:p>
        </p:txBody>
      </p:sp>
      <p:sp>
        <p:nvSpPr>
          <p:cNvPr id="337" name="Google Shape;337;p26"/>
          <p:cNvSpPr txBox="1"/>
          <p:nvPr/>
        </p:nvSpPr>
        <p:spPr>
          <a:xfrm>
            <a:off x="8413849" y="3000375"/>
            <a:ext cx="29211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Non-linear alpha exists, but it is fragile. It requires strict liquidity controls (MCW) to transition from a statistical artifact to a realizable profit.</a:t>
            </a:r>
          </a:p>
        </p:txBody>
      </p:sp>
      <p:pic>
        <p:nvPicPr>
          <p:cNvPr id="338" name="Google Shape;338;p2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57250" y="194310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6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4635549" y="19431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6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413849" y="1943100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6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60A5F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Conclusion</a:t>
            </a:r>
          </a:p>
        </p:txBody>
      </p:sp>
      <p:sp>
        <p:nvSpPr>
          <p:cNvPr id="342" name="Google Shape;342;p26"/>
          <p:cNvSpPr/>
          <p:nvPr/>
        </p:nvSpPr>
        <p:spPr>
          <a:xfrm>
            <a:off x="571500" y="1200150"/>
            <a:ext cx="11049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7"/>
          <p:cNvSpPr txBox="1"/>
          <p:nvPr/>
        </p:nvSpPr>
        <p:spPr>
          <a:xfrm>
            <a:off x="4030741" y="2326927"/>
            <a:ext cx="413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FFFFFF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rPr>
              <a:t>Q&amp;A</a:t>
            </a:r>
          </a:p>
        </p:txBody>
      </p:sp>
      <p:sp>
        <p:nvSpPr>
          <p:cNvPr id="349" name="Google Shape;349;p27"/>
          <p:cNvSpPr/>
          <p:nvPr/>
        </p:nvSpPr>
        <p:spPr>
          <a:xfrm>
            <a:off x="5619750" y="3546127"/>
            <a:ext cx="952500" cy="95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0" name="Google Shape;350;p27"/>
          <p:cNvSpPr txBox="1"/>
          <p:nvPr/>
        </p:nvSpPr>
        <p:spPr>
          <a:xfrm>
            <a:off x="4129087" y="3936652"/>
            <a:ext cx="393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 Light" panose="02000503000000020004"/>
                <a:ea typeface="Inter Light" panose="02000503000000020004"/>
                <a:cs typeface="Inter Light" panose="02000503000000020004"/>
                <a:sym typeface="Inter Light" panose="02000503000000020004"/>
              </a:rPr>
              <a:t>Thank you for your </a:t>
            </a:r>
            <a:r>
              <a:rPr lang="en-US" sz="1800">
                <a:solidFill>
                  <a:srgbClr val="94A3B8"/>
                </a:solidFill>
                <a:latin typeface="Inter Light" panose="02000503000000020004"/>
                <a:ea typeface="Inter Light" panose="02000503000000020004"/>
                <a:cs typeface="Inter Light" panose="02000503000000020004"/>
                <a:sym typeface="Inter Light" panose="02000503000000020004"/>
              </a:rPr>
              <a:t>time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 Light" panose="02000503000000020004"/>
                <a:ea typeface="Inter Light" panose="02000503000000020004"/>
                <a:cs typeface="Inter Light" panose="02000503000000020004"/>
                <a:sym typeface="Inter Light" panose="02000503000000020004"/>
              </a:rPr>
              <a:t>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25,&quot;left&quot;:51.75,&quot;top&quot;:234.12496062992128,&quot;width&quot;:863.26181102362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25,&quot;left&quot;:51.75,&quot;top&quot;:234.12496062992128,&quot;width&quot;:863.26181102362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25,&quot;left&quot;:51.75,&quot;top&quot;:234.12496062992128,&quot;width&quot;:863.26181102362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25,&quot;left&quot;:51.75,&quot;top&quot;:234.12496062992128,&quot;width&quot;:863.26181102362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25,&quot;left&quot;:51.75,&quot;top&quot;:234.12496062992128,&quot;width&quot;:863.26181102362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25,&quot;left&quot;:51.75,&quot;top&quot;:234.12496062992128,&quot;width&quot;:863.26181102362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25,&quot;left&quot;:51.75,&quot;top&quot;:234.12496062992128,&quot;width&quot;:863.26181102362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25,&quot;left&quot;:51.75,&quot;top&quot;:234.12496062992128,&quot;width&quot;:863.26181102362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25,&quot;left&quot;:51.75,&quot;top&quot;:234.12496062992128,&quot;width&quot;:863.26181102362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25,&quot;left&quot;:51.75,&quot;top&quot;:234.12496062992128,&quot;width&quot;:863.26181102362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25,&quot;left&quot;:51.75,&quot;top&quot;:234.12496062992128,&quot;width&quot;:863.26181102362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25,&quot;left&quot;:51.75,&quot;top&quot;:234.12496062992128,&quot;width&quot;:863.26181102362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25,&quot;left&quot;:51.75,&quot;top&quot;:234.12496062992128,&quot;width&quot;:863.26181102362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25,&quot;left&quot;:51.75,&quot;top&quot;:234.12496062992128,&quot;width&quot;:863.26181102362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53897637795276,&quot;left&quot;:51.75,&quot;top&quot;:222.02496062992128,&quot;width&quot;:405.7618110236220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53897637795276,&quot;left&quot;:51.75,&quot;top&quot;:222.02496062992128,&quot;width&quot;:405.7618110236220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53897637795276,&quot;left&quot;:51.75,&quot;top&quot;:222.02496062992128,&quot;width&quot;:405.7618110236220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53897637795276,&quot;left&quot;:51.75,&quot;top&quot;:222.02496062992128,&quot;width&quot;:405.7618110236220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53897637795276,&quot;left&quot;:51.75,&quot;top&quot;:222.02496062992128,&quot;width&quot;:405.7618110236220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53897637795276,&quot;left&quot;:51.75,&quot;top&quot;:222.02496062992128,&quot;width&quot;:405.7618110236220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53897637795276,&quot;left&quot;:51.75,&quot;top&quot;:222.02496062992128,&quot;width&quot;:405.7618110236220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53897637795276,&quot;left&quot;:51.75,&quot;top&quot;:222.02496062992128,&quot;width&quot;:405.7618110236220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00000000000006,&quot;left&quot;:51.75,&quot;top&quot;:221.62496062992128,&quot;width&quot;:405.7618110236220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00000000000006,&quot;left&quot;:51.75,&quot;top&quot;:221.62496062992128,&quot;width&quot;:405.7618110236220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00000000000006,&quot;left&quot;:51.75,&quot;top&quot;:221.62496062992128,&quot;width&quot;:405.7618110236220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00000000000006,&quot;left&quot;:51.75,&quot;top&quot;:221.62496062992128,&quot;width&quot;:405.7618110236220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00000000000006,&quot;left&quot;:51.75,&quot;top&quot;:221.62496062992128,&quot;width&quot;:405.7618110236220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00000000000006,&quot;left&quot;:51.75,&quot;top&quot;:221.62496062992128,&quot;width&quot;:405.7618110236220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00000000000006,&quot;left&quot;:51.75,&quot;top&quot;:221.62496062992128,&quot;width&quot;:405.7618110236220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00000000000006,&quot;left&quot;:51.75,&quot;top&quot;:221.62496062992128,&quot;width&quot;:405.7618110236220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6255905511811,&quot;left&quot;:37.80590551181102,&quot;top&quot;:152.03464566929134,&quot;width&quot;:756.131496062992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6255905511811,&quot;left&quot;:37.80590551181102,&quot;top&quot;:152.03464566929134,&quot;width&quot;:756.1314960629921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6255905511811,&quot;left&quot;:37.80590551181102,&quot;top&quot;:152.03464566929134,&quot;width&quot;:756.1314960629921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6255905511811,&quot;left&quot;:37.80590551181102,&quot;top&quot;:152.03464566929134,&quot;width&quot;:756.131496062992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6255905511811,&quot;left&quot;:37.80590551181102,&quot;top&quot;:152.03464566929134,&quot;width&quot;:756.131496062992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6255905511811,&quot;left&quot;:37.80590551181102,&quot;top&quot;:152.03464566929134,&quot;width&quot;:756.1314960629921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6255905511811,&quot;left&quot;:37.80590551181102,&quot;top&quot;:152.03464566929134,&quot;width&quot;:756.1314960629921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6.6255905511811,&quot;left&quot;:37.80590551181102,&quot;top&quot;:152.03464566929134,&quot;width&quot;:756.1314960629921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1287</Words>
  <Application>Microsoft Macintosh PowerPoint</Application>
  <PresentationFormat>宽屏</PresentationFormat>
  <Paragraphs>184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Playfair Display</vt:lpstr>
      <vt:lpstr>Inter</vt:lpstr>
      <vt:lpstr>Calibri</vt:lpstr>
      <vt:lpstr>Inter Light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Dt Z</cp:lastModifiedBy>
  <cp:revision>11</cp:revision>
  <dcterms:created xsi:type="dcterms:W3CDTF">2025-12-04T00:52:00Z</dcterms:created>
  <dcterms:modified xsi:type="dcterms:W3CDTF">2025-12-04T03:26:27Z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B959CEB45C2E49D6AFC675456A747D21_13</vt:lpwstr>
  </property>
</Properties>
</file>